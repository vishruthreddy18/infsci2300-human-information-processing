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4"/>
  </p:sldMasterIdLst>
  <p:sldIdLst>
    <p:sldId id="256" r:id="rId5"/>
    <p:sldId id="257" r:id="rId6"/>
    <p:sldId id="269" r:id="rId7"/>
    <p:sldId id="258" r:id="rId8"/>
    <p:sldId id="265" r:id="rId9"/>
    <p:sldId id="264" r:id="rId10"/>
    <p:sldId id="262" r:id="rId11"/>
    <p:sldId id="263" r:id="rId12"/>
    <p:sldId id="266" r:id="rId13"/>
    <p:sldId id="270" r:id="rId14"/>
    <p:sldId id="267" r:id="rId15"/>
    <p:sldId id="268"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CE2044-02D3-B6B2-62F0-CEED9022EED7}" v="572" dt="2023-04-17T07:41:09.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Monday, April 17, 2023</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18994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Monday, April 17, 2023</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094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Monday, April 17, 2023</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28271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Monday, April 17, 2023</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25247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Monday, April 17, 2023</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96282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Monday, April 17, 2023</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09804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Monday, April 17, 2023</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28188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Monday, April 17, 2023</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25114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Monday, April 17, 2023</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404985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Monday, April 17, 2023</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14341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Monday, April 17, 2023</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673334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Monday, April 17, 2023</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173157756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1">
            <a:extLst>
              <a:ext uri="{FF2B5EF4-FFF2-40B4-BE49-F238E27FC236}">
                <a16:creationId xmlns:a16="http://schemas.microsoft.com/office/drawing/2014/main" id="{4D896123-1B32-4CB1-B2ED-E34BBC26B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D8C49EC-4B67-61AD-915E-7B580DED9E5D}"/>
              </a:ext>
            </a:extLst>
          </p:cNvPr>
          <p:cNvPicPr>
            <a:picLocks noChangeAspect="1"/>
          </p:cNvPicPr>
          <p:nvPr/>
        </p:nvPicPr>
        <p:blipFill rotWithShape="1">
          <a:blip r:embed="rId2"/>
          <a:srcRect t="20500"/>
          <a:stretch/>
        </p:blipFill>
        <p:spPr>
          <a:xfrm>
            <a:off x="20" y="-1"/>
            <a:ext cx="12191980" cy="6857571"/>
          </a:xfrm>
          <a:prstGeom prst="rect">
            <a:avLst/>
          </a:prstGeom>
        </p:spPr>
      </p:pic>
      <p:sp>
        <p:nvSpPr>
          <p:cNvPr id="31" name="Rectangle 23">
            <a:extLst>
              <a:ext uri="{FF2B5EF4-FFF2-40B4-BE49-F238E27FC236}">
                <a16:creationId xmlns:a16="http://schemas.microsoft.com/office/drawing/2014/main" id="{019FDB4D-987D-4C87-A179-9D4616AB2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1"/>
            <a:ext cx="12191999" cy="5058137"/>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A134E1-D440-7692-6745-54B0ABCF1FE1}"/>
              </a:ext>
            </a:extLst>
          </p:cNvPr>
          <p:cNvSpPr>
            <a:spLocks noGrp="1"/>
          </p:cNvSpPr>
          <p:nvPr>
            <p:ph type="ctrTitle"/>
          </p:nvPr>
        </p:nvSpPr>
        <p:spPr>
          <a:xfrm>
            <a:off x="224802" y="2137823"/>
            <a:ext cx="12041752" cy="1410356"/>
          </a:xfrm>
        </p:spPr>
        <p:txBody>
          <a:bodyPr anchor="b">
            <a:normAutofit/>
          </a:bodyPr>
          <a:lstStyle/>
          <a:p>
            <a:pPr algn="l"/>
            <a:r>
              <a:rPr lang="en-US" dirty="0">
                <a:solidFill>
                  <a:schemeClr val="bg1"/>
                </a:solidFill>
              </a:rPr>
              <a:t>Iteration 4:Research Proposal</a:t>
            </a:r>
            <a:endParaRPr lang="en-US">
              <a:solidFill>
                <a:schemeClr val="bg1"/>
              </a:solidFill>
            </a:endParaRPr>
          </a:p>
        </p:txBody>
      </p:sp>
      <p:sp>
        <p:nvSpPr>
          <p:cNvPr id="3" name="Subtitle 2">
            <a:extLst>
              <a:ext uri="{FF2B5EF4-FFF2-40B4-BE49-F238E27FC236}">
                <a16:creationId xmlns:a16="http://schemas.microsoft.com/office/drawing/2014/main" id="{F3FBC7C6-C97A-44EB-12D8-8763F46DFF25}"/>
              </a:ext>
            </a:extLst>
          </p:cNvPr>
          <p:cNvSpPr>
            <a:spLocks noGrp="1"/>
          </p:cNvSpPr>
          <p:nvPr>
            <p:ph type="subTitle" idx="1"/>
          </p:nvPr>
        </p:nvSpPr>
        <p:spPr>
          <a:xfrm>
            <a:off x="8733227" y="5212514"/>
            <a:ext cx="3202797" cy="1500750"/>
          </a:xfrm>
        </p:spPr>
        <p:txBody>
          <a:bodyPr vert="horz" lIns="0" tIns="0" rIns="0" bIns="0" rtlCol="0" anchor="t">
            <a:normAutofit/>
          </a:bodyPr>
          <a:lstStyle/>
          <a:p>
            <a:r>
              <a:rPr lang="en-US" b="1" dirty="0"/>
              <a:t>Hsu-</a:t>
            </a:r>
            <a:r>
              <a:rPr lang="en-US" b="1" dirty="0" err="1"/>
              <a:t>ChianG</a:t>
            </a:r>
            <a:r>
              <a:rPr lang="en-US" b="1" dirty="0"/>
              <a:t> HSU</a:t>
            </a:r>
          </a:p>
          <a:p>
            <a:r>
              <a:rPr lang="en-US" b="1" dirty="0"/>
              <a:t>Manuel Rosario</a:t>
            </a:r>
          </a:p>
          <a:p>
            <a:r>
              <a:rPr lang="en-US" b="1" dirty="0"/>
              <a:t>Vishruth</a:t>
            </a:r>
            <a:r>
              <a:rPr lang="en-US" b="1" dirty="0">
                <a:ea typeface="+mn-lt"/>
                <a:cs typeface="+mn-lt"/>
              </a:rPr>
              <a:t> Reddy</a:t>
            </a:r>
            <a:endParaRPr lang="en-US" b="1" dirty="0"/>
          </a:p>
        </p:txBody>
      </p:sp>
    </p:spTree>
    <p:extLst>
      <p:ext uri="{BB962C8B-B14F-4D97-AF65-F5344CB8AC3E}">
        <p14:creationId xmlns:p14="http://schemas.microsoft.com/office/powerpoint/2010/main" val="210450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200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400"/>
                                        <p:tgtEl>
                                          <p:spTgt spid="3">
                                            <p:txEl>
                                              <p:pRg st="2" end="2"/>
                                            </p:txEl>
                                          </p:spTgt>
                                        </p:tgtEl>
                                      </p:cBhvr>
                                    </p:animEffect>
                                  </p:childTnLst>
                                </p:cTn>
                              </p:par>
                              <p:par>
                                <p:cTn id="18" presetID="10" presetClass="entr" presetSubtype="0" fill="hold" grpId="0" nodeType="withEffect">
                                  <p:stCondLst>
                                    <p:cond delay="1000"/>
                                  </p:stCondLst>
                                  <p:iterate type="lt">
                                    <p:tmPct val="10000"/>
                                  </p:iterate>
                                  <p:childTnLst>
                                    <p:set>
                                      <p:cBhvr>
                                        <p:cTn id="19" dur="1" fill="hold">
                                          <p:stCondLst>
                                            <p:cond delay="0"/>
                                          </p:stCondLst>
                                        </p:cTn>
                                        <p:tgtEl>
                                          <p:spTgt spid="2"/>
                                        </p:tgtEl>
                                        <p:attrNameLst>
                                          <p:attrName>style.visibility</p:attrName>
                                        </p:attrNameLst>
                                      </p:cBhvr>
                                      <p:to>
                                        <p:strVal val="visible"/>
                                      </p:to>
                                    </p:set>
                                    <p:animEffect transition="in" filter="fade">
                                      <p:cBhvr>
                                        <p:cTn id="2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F1F75-810C-857F-6655-9B8B5015223E}"/>
              </a:ext>
            </a:extLst>
          </p:cNvPr>
          <p:cNvSpPr>
            <a:spLocks noGrp="1"/>
          </p:cNvSpPr>
          <p:nvPr>
            <p:ph type="title"/>
          </p:nvPr>
        </p:nvSpPr>
        <p:spPr>
          <a:xfrm>
            <a:off x="1380236" y="286601"/>
            <a:ext cx="5929422" cy="1852976"/>
          </a:xfrm>
        </p:spPr>
        <p:txBody>
          <a:bodyPr>
            <a:normAutofit/>
          </a:bodyPr>
          <a:lstStyle/>
          <a:p>
            <a:r>
              <a:rPr lang="en-US" sz="4000"/>
              <a:t>The Serial position effect</a:t>
            </a:r>
          </a:p>
        </p:txBody>
      </p:sp>
      <p:sp>
        <p:nvSpPr>
          <p:cNvPr id="3" name="Content Placeholder 2">
            <a:extLst>
              <a:ext uri="{FF2B5EF4-FFF2-40B4-BE49-F238E27FC236}">
                <a16:creationId xmlns:a16="http://schemas.microsoft.com/office/drawing/2014/main" id="{0D060A51-9E4D-C9C4-C8CF-609FC45E1C54}"/>
              </a:ext>
            </a:extLst>
          </p:cNvPr>
          <p:cNvSpPr>
            <a:spLocks noGrp="1"/>
          </p:cNvSpPr>
          <p:nvPr>
            <p:ph idx="1"/>
          </p:nvPr>
        </p:nvSpPr>
        <p:spPr>
          <a:xfrm>
            <a:off x="1380237" y="2621381"/>
            <a:ext cx="5929422" cy="3322219"/>
          </a:xfrm>
        </p:spPr>
        <p:txBody>
          <a:bodyPr vert="horz" lIns="0" tIns="0" rIns="0" bIns="0" rtlCol="0" anchor="t">
            <a:normAutofit/>
          </a:bodyPr>
          <a:lstStyle/>
          <a:p>
            <a:pPr>
              <a:buNone/>
            </a:pPr>
            <a:r>
              <a:rPr lang="en-US" dirty="0">
                <a:latin typeface="Times New Roman"/>
                <a:cs typeface="Times New Roman"/>
              </a:rPr>
              <a:t>The serial position effect is a psychological phenomenon that describes our tendency to remember the first and last items on a list more easily than those in the middle. This effect has been extensively studied and is believed to be due to differences in how our brain processes and stores information. In practical terms, the serial position effect has important implications for many areas of life, such as website design, advertising, and memory improvement techniques.</a:t>
            </a:r>
            <a:endParaRPr lang="en-US"/>
          </a:p>
          <a:p>
            <a:pPr marL="0" indent="0">
              <a:lnSpc>
                <a:spcPct val="110000"/>
              </a:lnSpc>
              <a:buNone/>
            </a:pPr>
            <a:endParaRPr lang="en-US" sz="2400" dirty="0">
              <a:latin typeface="Times New Roman"/>
              <a:cs typeface="Times New Roman"/>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lex maths formulae on a blackboard">
            <a:extLst>
              <a:ext uri="{FF2B5EF4-FFF2-40B4-BE49-F238E27FC236}">
                <a16:creationId xmlns:a16="http://schemas.microsoft.com/office/drawing/2014/main" id="{BEE0463B-23A4-2203-4055-56AA82FE01DA}"/>
              </a:ext>
            </a:extLst>
          </p:cNvPr>
          <p:cNvPicPr>
            <a:picLocks noChangeAspect="1"/>
          </p:cNvPicPr>
          <p:nvPr/>
        </p:nvPicPr>
        <p:blipFill rotWithShape="1">
          <a:blip r:embed="rId2"/>
          <a:srcRect l="33778" r="19858" b="2"/>
          <a:stretch/>
        </p:blipFill>
        <p:spPr>
          <a:xfrm>
            <a:off x="8115300" y="-12515"/>
            <a:ext cx="4076700" cy="6418631"/>
          </a:xfrm>
          <a:prstGeom prst="rect">
            <a:avLst/>
          </a:prstGeom>
        </p:spPr>
      </p:pic>
    </p:spTree>
    <p:extLst>
      <p:ext uri="{BB962C8B-B14F-4D97-AF65-F5344CB8AC3E}">
        <p14:creationId xmlns:p14="http://schemas.microsoft.com/office/powerpoint/2010/main" val="1081454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F1F75-810C-857F-6655-9B8B5015223E}"/>
              </a:ext>
            </a:extLst>
          </p:cNvPr>
          <p:cNvSpPr>
            <a:spLocks noGrp="1"/>
          </p:cNvSpPr>
          <p:nvPr>
            <p:ph type="title"/>
          </p:nvPr>
        </p:nvSpPr>
        <p:spPr>
          <a:xfrm>
            <a:off x="1380236" y="286601"/>
            <a:ext cx="5929422" cy="1852976"/>
          </a:xfrm>
        </p:spPr>
        <p:txBody>
          <a:bodyPr>
            <a:normAutofit/>
          </a:bodyPr>
          <a:lstStyle/>
          <a:p>
            <a:r>
              <a:rPr lang="en-US" sz="4000"/>
              <a:t>The Serial position effect</a:t>
            </a:r>
          </a:p>
        </p:txBody>
      </p:sp>
      <p:sp>
        <p:nvSpPr>
          <p:cNvPr id="3" name="Content Placeholder 2">
            <a:extLst>
              <a:ext uri="{FF2B5EF4-FFF2-40B4-BE49-F238E27FC236}">
                <a16:creationId xmlns:a16="http://schemas.microsoft.com/office/drawing/2014/main" id="{0D060A51-9E4D-C9C4-C8CF-609FC45E1C54}"/>
              </a:ext>
            </a:extLst>
          </p:cNvPr>
          <p:cNvSpPr>
            <a:spLocks noGrp="1"/>
          </p:cNvSpPr>
          <p:nvPr>
            <p:ph idx="1"/>
          </p:nvPr>
        </p:nvSpPr>
        <p:spPr>
          <a:xfrm>
            <a:off x="1380237" y="2621381"/>
            <a:ext cx="5929422" cy="3322219"/>
          </a:xfrm>
        </p:spPr>
        <p:txBody>
          <a:bodyPr vert="horz" lIns="0" tIns="0" rIns="0" bIns="0" rtlCol="0" anchor="t">
            <a:normAutofit/>
          </a:bodyPr>
          <a:lstStyle/>
          <a:p>
            <a:pPr marL="0" indent="0">
              <a:lnSpc>
                <a:spcPct val="90000"/>
              </a:lnSpc>
              <a:buNone/>
            </a:pPr>
            <a:r>
              <a:rPr lang="en-US" sz="2400" dirty="0">
                <a:latin typeface="Arial"/>
                <a:cs typeface="Arial"/>
              </a:rPr>
              <a:t>Sub-effects of Serial Position:</a:t>
            </a:r>
          </a:p>
          <a:p>
            <a:pPr>
              <a:lnSpc>
                <a:spcPct val="90000"/>
              </a:lnSpc>
              <a:buFont typeface="Arial"/>
              <a:buChar char="•"/>
            </a:pPr>
            <a:r>
              <a:rPr lang="en-US" sz="2400" dirty="0">
                <a:latin typeface="Arial"/>
                <a:cs typeface="Arial"/>
              </a:rPr>
              <a:t>Primacy effect</a:t>
            </a:r>
            <a:endParaRPr lang="en-US">
              <a:latin typeface="Avenir Next LT Pro"/>
              <a:cs typeface="Arial"/>
            </a:endParaRPr>
          </a:p>
          <a:p>
            <a:pPr lvl="1" indent="-285750">
              <a:lnSpc>
                <a:spcPct val="90000"/>
              </a:lnSpc>
              <a:buFont typeface="Arial"/>
              <a:buChar char="•"/>
            </a:pPr>
            <a:r>
              <a:rPr lang="en-US" sz="2400" dirty="0">
                <a:latin typeface="Arial"/>
                <a:cs typeface="Arial"/>
              </a:rPr>
              <a:t>Primacy effect is the tendency to remember the first items in a list.</a:t>
            </a:r>
            <a:endParaRPr lang="en-US" dirty="0">
              <a:latin typeface="Avenir Next LT Pro"/>
              <a:cs typeface="Arial"/>
            </a:endParaRPr>
          </a:p>
          <a:p>
            <a:pPr>
              <a:lnSpc>
                <a:spcPct val="90000"/>
              </a:lnSpc>
            </a:pPr>
            <a:r>
              <a:rPr lang="en-US" sz="2400" dirty="0">
                <a:latin typeface="Arial"/>
                <a:cs typeface="Arial"/>
              </a:rPr>
              <a:t>Recency effect.</a:t>
            </a:r>
            <a:endParaRPr lang="en-US" dirty="0">
              <a:latin typeface="Avenir Next LT Pro"/>
              <a:cs typeface="Arial"/>
            </a:endParaRPr>
          </a:p>
          <a:p>
            <a:pPr lvl="1" indent="-285750">
              <a:lnSpc>
                <a:spcPct val="90000"/>
              </a:lnSpc>
            </a:pPr>
            <a:r>
              <a:rPr lang="en-US" sz="2400" dirty="0">
                <a:latin typeface="Arial"/>
                <a:cs typeface="Arial"/>
              </a:rPr>
              <a:t>Recency effect is the tendency to remember the last items.</a:t>
            </a:r>
            <a:endParaRPr lang="en-US">
              <a:latin typeface="Avenir Next LT Pro"/>
              <a:cs typeface="Arial"/>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lex maths formulae on a blackboard">
            <a:extLst>
              <a:ext uri="{FF2B5EF4-FFF2-40B4-BE49-F238E27FC236}">
                <a16:creationId xmlns:a16="http://schemas.microsoft.com/office/drawing/2014/main" id="{BEE0463B-23A4-2203-4055-56AA82FE01DA}"/>
              </a:ext>
            </a:extLst>
          </p:cNvPr>
          <p:cNvPicPr>
            <a:picLocks noChangeAspect="1"/>
          </p:cNvPicPr>
          <p:nvPr/>
        </p:nvPicPr>
        <p:blipFill rotWithShape="1">
          <a:blip r:embed="rId2"/>
          <a:srcRect l="33778" r="19858" b="2"/>
          <a:stretch/>
        </p:blipFill>
        <p:spPr>
          <a:xfrm>
            <a:off x="8115300" y="-12515"/>
            <a:ext cx="4076700" cy="6418631"/>
          </a:xfrm>
          <a:prstGeom prst="rect">
            <a:avLst/>
          </a:prstGeom>
        </p:spPr>
      </p:pic>
    </p:spTree>
    <p:extLst>
      <p:ext uri="{BB962C8B-B14F-4D97-AF65-F5344CB8AC3E}">
        <p14:creationId xmlns:p14="http://schemas.microsoft.com/office/powerpoint/2010/main" val="201912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E4-70B4-1ADD-A30E-02315000B7CC}"/>
              </a:ext>
            </a:extLst>
          </p:cNvPr>
          <p:cNvSpPr>
            <a:spLocks noGrp="1"/>
          </p:cNvSpPr>
          <p:nvPr>
            <p:ph type="title"/>
          </p:nvPr>
        </p:nvSpPr>
        <p:spPr>
          <a:xfrm>
            <a:off x="1371600" y="-152428"/>
            <a:ext cx="10241280" cy="1234440"/>
          </a:xfrm>
        </p:spPr>
        <p:txBody>
          <a:bodyPr/>
          <a:lstStyle/>
          <a:p>
            <a:r>
              <a:rPr lang="en-US" dirty="0"/>
              <a:t>Brief summary of articles </a:t>
            </a:r>
          </a:p>
        </p:txBody>
      </p:sp>
      <p:sp>
        <p:nvSpPr>
          <p:cNvPr id="3" name="Content Placeholder 2">
            <a:extLst>
              <a:ext uri="{FF2B5EF4-FFF2-40B4-BE49-F238E27FC236}">
                <a16:creationId xmlns:a16="http://schemas.microsoft.com/office/drawing/2014/main" id="{C5383053-6242-19B7-7060-AB94AB681B40}"/>
              </a:ext>
            </a:extLst>
          </p:cNvPr>
          <p:cNvSpPr>
            <a:spLocks noGrp="1"/>
          </p:cNvSpPr>
          <p:nvPr>
            <p:ph idx="1"/>
          </p:nvPr>
        </p:nvSpPr>
        <p:spPr>
          <a:xfrm>
            <a:off x="1371600" y="1340477"/>
            <a:ext cx="10241280" cy="4884154"/>
          </a:xfrm>
        </p:spPr>
        <p:txBody>
          <a:bodyPr vert="horz" lIns="0" tIns="0" rIns="0" bIns="0" rtlCol="0" anchor="t">
            <a:normAutofit/>
          </a:bodyPr>
          <a:lstStyle/>
          <a:p>
            <a:pPr marL="0" indent="0">
              <a:buNone/>
            </a:pPr>
            <a:endParaRPr lang="en-US" b="0" i="0" dirty="0">
              <a:solidFill>
                <a:srgbClr val="000000"/>
              </a:solidFill>
              <a:effectLst/>
              <a:latin typeface="Times New Roman" panose="02020603050405020304" pitchFamily="18" charset="0"/>
              <a:cs typeface="Times New Roman"/>
            </a:endParaRPr>
          </a:p>
          <a:p>
            <a:endParaRPr lang="en-US" dirty="0"/>
          </a:p>
        </p:txBody>
      </p:sp>
      <p:graphicFrame>
        <p:nvGraphicFramePr>
          <p:cNvPr id="5" name="Table 4">
            <a:extLst>
              <a:ext uri="{FF2B5EF4-FFF2-40B4-BE49-F238E27FC236}">
                <a16:creationId xmlns:a16="http://schemas.microsoft.com/office/drawing/2014/main" id="{F4AB02D0-4223-D6EF-B75A-D2F618D923AB}"/>
              </a:ext>
            </a:extLst>
          </p:cNvPr>
          <p:cNvGraphicFramePr>
            <a:graphicFrameLocks noGrp="1"/>
          </p:cNvGraphicFramePr>
          <p:nvPr>
            <p:extLst>
              <p:ext uri="{D42A27DB-BD31-4B8C-83A1-F6EECF244321}">
                <p14:modId xmlns:p14="http://schemas.microsoft.com/office/powerpoint/2010/main" val="4124346801"/>
              </p:ext>
            </p:extLst>
          </p:nvPr>
        </p:nvGraphicFramePr>
        <p:xfrm>
          <a:off x="557892" y="1585232"/>
          <a:ext cx="10997888" cy="3608069"/>
        </p:xfrm>
        <a:graphic>
          <a:graphicData uri="http://schemas.openxmlformats.org/drawingml/2006/table">
            <a:tbl>
              <a:tblPr firstRow="1" bandRow="1">
                <a:tableStyleId>{5C22544A-7EE6-4342-B048-85BDC9FD1C3A}</a:tableStyleId>
              </a:tblPr>
              <a:tblGrid>
                <a:gridCol w="10997888">
                  <a:extLst>
                    <a:ext uri="{9D8B030D-6E8A-4147-A177-3AD203B41FA5}">
                      <a16:colId xmlns:a16="http://schemas.microsoft.com/office/drawing/2014/main" val="3095188934"/>
                    </a:ext>
                  </a:extLst>
                </a:gridCol>
              </a:tblGrid>
              <a:tr h="664125">
                <a:tc>
                  <a:txBody>
                    <a:bodyPr/>
                    <a:lstStyle/>
                    <a:p>
                      <a:pPr marL="0" marR="0">
                        <a:spcBef>
                          <a:spcPts val="0"/>
                        </a:spcBef>
                        <a:spcAft>
                          <a:spcPts val="0"/>
                        </a:spcAft>
                      </a:pPr>
                      <a:r>
                        <a:rPr lang="en-US" sz="2400" b="0" dirty="0">
                          <a:effectLst/>
                          <a:latin typeface="Times New Roman"/>
                        </a:rPr>
                        <a:t>Paper 1:</a:t>
                      </a:r>
                      <a:r>
                        <a:rPr lang="en-US" sz="2400" dirty="0">
                          <a:effectLst/>
                          <a:latin typeface="Times New Roman"/>
                        </a:rPr>
                        <a:t> The Influence of Commodity Presentation Mode on Online Shopping Decision Preference Induced by the Serial Position Effect</a:t>
                      </a:r>
                    </a:p>
                  </a:txBody>
                  <a:tcPr marL="68580" marR="68580" marT="0" marB="0"/>
                </a:tc>
                <a:extLst>
                  <a:ext uri="{0D108BD9-81ED-4DB2-BD59-A6C34878D82A}">
                    <a16:rowId xmlns:a16="http://schemas.microsoft.com/office/drawing/2014/main" val="2266185789"/>
                  </a:ext>
                </a:extLst>
              </a:tr>
              <a:tr h="1614514">
                <a:tc>
                  <a:txBody>
                    <a:bodyPr/>
                    <a:lstStyle/>
                    <a:p>
                      <a:pPr marL="0" marR="0">
                        <a:spcBef>
                          <a:spcPts val="0"/>
                        </a:spcBef>
                        <a:spcAft>
                          <a:spcPts val="0"/>
                        </a:spcAft>
                      </a:pPr>
                      <a:r>
                        <a:rPr lang="en-US" sz="2400" dirty="0">
                          <a:effectLst/>
                          <a:latin typeface="Times New Roman"/>
                        </a:rPr>
                        <a:t>The article discusses the serial position effect and its practical applications in web design and advertising. The effect involves remembering the first and last items in a list more easily, which can be used to improve memory performance through the "chunking" method. The article highlights the importance of understanding how our brains process and store information to create more effective designs and advertising campaigns.</a:t>
                      </a:r>
                    </a:p>
                  </a:txBody>
                  <a:tcPr marL="68580" marR="68580" marT="0" marB="0"/>
                </a:tc>
                <a:extLst>
                  <a:ext uri="{0D108BD9-81ED-4DB2-BD59-A6C34878D82A}">
                    <a16:rowId xmlns:a16="http://schemas.microsoft.com/office/drawing/2014/main" val="4180966818"/>
                  </a:ext>
                </a:extLst>
              </a:tr>
              <a:tr h="1047749">
                <a:tc>
                  <a:txBody>
                    <a:bodyPr/>
                    <a:lstStyle/>
                    <a:p>
                      <a:pPr lvl="0" algn="l">
                        <a:lnSpc>
                          <a:spcPct val="100000"/>
                        </a:lnSpc>
                        <a:spcBef>
                          <a:spcPts val="0"/>
                        </a:spcBef>
                        <a:spcAft>
                          <a:spcPts val="0"/>
                        </a:spcAft>
                        <a:buNone/>
                      </a:pPr>
                      <a:r>
                        <a:rPr lang="en-US" sz="2200" b="0" i="0" u="none" strike="noStrike" noProof="0" dirty="0">
                          <a:solidFill>
                            <a:schemeClr val="tx1"/>
                          </a:solidFill>
                          <a:effectLst/>
                        </a:rPr>
                        <a:t>Placement of products, commercials, and menus in web pages, television, and restaurants can be worked on to make it easier to remember items.</a:t>
                      </a:r>
                    </a:p>
                    <a:p>
                      <a:pPr marL="0" lvl="0">
                        <a:spcBef>
                          <a:spcPts val="0"/>
                        </a:spcBef>
                        <a:spcAft>
                          <a:spcPts val="0"/>
                        </a:spcAft>
                        <a:buNone/>
                      </a:pPr>
                      <a:endParaRPr lang="en-US" sz="2400" dirty="0">
                        <a:effectLst/>
                        <a:latin typeface="Times New Roman"/>
                      </a:endParaRPr>
                    </a:p>
                  </a:txBody>
                  <a:tcPr marL="68580" marR="68580" marT="0" marB="0"/>
                </a:tc>
                <a:extLst>
                  <a:ext uri="{0D108BD9-81ED-4DB2-BD59-A6C34878D82A}">
                    <a16:rowId xmlns:a16="http://schemas.microsoft.com/office/drawing/2014/main" val="3124085089"/>
                  </a:ext>
                </a:extLst>
              </a:tr>
            </a:tbl>
          </a:graphicData>
        </a:graphic>
      </p:graphicFrame>
    </p:spTree>
    <p:extLst>
      <p:ext uri="{BB962C8B-B14F-4D97-AF65-F5344CB8AC3E}">
        <p14:creationId xmlns:p14="http://schemas.microsoft.com/office/powerpoint/2010/main" val="3222223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E4-70B4-1ADD-A30E-02315000B7CC}"/>
              </a:ext>
            </a:extLst>
          </p:cNvPr>
          <p:cNvSpPr>
            <a:spLocks noGrp="1"/>
          </p:cNvSpPr>
          <p:nvPr>
            <p:ph type="title"/>
          </p:nvPr>
        </p:nvSpPr>
        <p:spPr>
          <a:xfrm>
            <a:off x="1371600" y="-152428"/>
            <a:ext cx="10241280" cy="1234440"/>
          </a:xfrm>
        </p:spPr>
        <p:txBody>
          <a:bodyPr/>
          <a:lstStyle/>
          <a:p>
            <a:r>
              <a:rPr lang="en-US" dirty="0"/>
              <a:t>Brief summary of articles </a:t>
            </a:r>
          </a:p>
        </p:txBody>
      </p:sp>
      <p:sp>
        <p:nvSpPr>
          <p:cNvPr id="3" name="Content Placeholder 2">
            <a:extLst>
              <a:ext uri="{FF2B5EF4-FFF2-40B4-BE49-F238E27FC236}">
                <a16:creationId xmlns:a16="http://schemas.microsoft.com/office/drawing/2014/main" id="{C5383053-6242-19B7-7060-AB94AB681B40}"/>
              </a:ext>
            </a:extLst>
          </p:cNvPr>
          <p:cNvSpPr>
            <a:spLocks noGrp="1"/>
          </p:cNvSpPr>
          <p:nvPr>
            <p:ph idx="1"/>
          </p:nvPr>
        </p:nvSpPr>
        <p:spPr>
          <a:xfrm>
            <a:off x="1371600" y="1340477"/>
            <a:ext cx="10241280" cy="4884154"/>
          </a:xfrm>
        </p:spPr>
        <p:txBody>
          <a:bodyPr vert="horz" lIns="0" tIns="0" rIns="0" bIns="0" rtlCol="0" anchor="t">
            <a:normAutofit/>
          </a:bodyPr>
          <a:lstStyle/>
          <a:p>
            <a:pPr marL="0" indent="0">
              <a:buNone/>
            </a:pPr>
            <a:endParaRPr lang="en-US" b="0" i="0" dirty="0">
              <a:solidFill>
                <a:srgbClr val="000000"/>
              </a:solidFill>
              <a:effectLst/>
              <a:latin typeface="Times New Roman" panose="02020603050405020304" pitchFamily="18" charset="0"/>
              <a:cs typeface="Times New Roman"/>
            </a:endParaRPr>
          </a:p>
          <a:p>
            <a:endParaRPr lang="en-US" dirty="0"/>
          </a:p>
        </p:txBody>
      </p:sp>
      <p:graphicFrame>
        <p:nvGraphicFramePr>
          <p:cNvPr id="5" name="Table 4">
            <a:extLst>
              <a:ext uri="{FF2B5EF4-FFF2-40B4-BE49-F238E27FC236}">
                <a16:creationId xmlns:a16="http://schemas.microsoft.com/office/drawing/2014/main" id="{F4AB02D0-4223-D6EF-B75A-D2F618D923AB}"/>
              </a:ext>
            </a:extLst>
          </p:cNvPr>
          <p:cNvGraphicFramePr>
            <a:graphicFrameLocks noGrp="1"/>
          </p:cNvGraphicFramePr>
          <p:nvPr>
            <p:extLst>
              <p:ext uri="{D42A27DB-BD31-4B8C-83A1-F6EECF244321}">
                <p14:modId xmlns:p14="http://schemas.microsoft.com/office/powerpoint/2010/main" val="2878796357"/>
              </p:ext>
            </p:extLst>
          </p:nvPr>
        </p:nvGraphicFramePr>
        <p:xfrm>
          <a:off x="557892" y="1415142"/>
          <a:ext cx="10997889" cy="3590651"/>
        </p:xfrm>
        <a:graphic>
          <a:graphicData uri="http://schemas.openxmlformats.org/drawingml/2006/table">
            <a:tbl>
              <a:tblPr firstRow="1" bandRow="1">
                <a:tableStyleId>{5C22544A-7EE6-4342-B048-85BDC9FD1C3A}</a:tableStyleId>
              </a:tblPr>
              <a:tblGrid>
                <a:gridCol w="10997889">
                  <a:extLst>
                    <a:ext uri="{9D8B030D-6E8A-4147-A177-3AD203B41FA5}">
                      <a16:colId xmlns:a16="http://schemas.microsoft.com/office/drawing/2014/main" val="3095188934"/>
                    </a:ext>
                  </a:extLst>
                </a:gridCol>
              </a:tblGrid>
              <a:tr h="0">
                <a:tc>
                  <a:txBody>
                    <a:bodyPr/>
                    <a:lstStyle/>
                    <a:p>
                      <a:pPr marL="0" marR="0" lvl="0">
                        <a:spcBef>
                          <a:spcPts val="0"/>
                        </a:spcBef>
                        <a:spcAft>
                          <a:spcPts val="0"/>
                        </a:spcAft>
                        <a:buNone/>
                      </a:pPr>
                      <a:r>
                        <a:rPr lang="en-US" sz="2400" b="0" i="0" u="none" strike="noStrike" noProof="0" dirty="0">
                          <a:solidFill>
                            <a:schemeClr val="bg1"/>
                          </a:solidFill>
                          <a:effectLst/>
                          <a:latin typeface="Times New Roman"/>
                        </a:rPr>
                        <a:t>Paper 2:</a:t>
                      </a:r>
                      <a:r>
                        <a:rPr lang="en-US" sz="2400" b="1" i="0" u="none" strike="noStrike" noProof="0" dirty="0">
                          <a:solidFill>
                            <a:schemeClr val="bg1"/>
                          </a:solidFill>
                          <a:effectLst/>
                          <a:latin typeface="Times New Roman"/>
                        </a:rPr>
                        <a:t> Serial Position Effects in the Identification of Letters, Digits, and Symbols</a:t>
                      </a:r>
                      <a:endParaRPr lang="en-US" sz="2400" b="1">
                        <a:solidFill>
                          <a:schemeClr val="bg1"/>
                        </a:solidFill>
                        <a:latin typeface="Times New Roman"/>
                      </a:endParaRPr>
                    </a:p>
                  </a:txBody>
                  <a:tcPr marL="68580" marR="68580" marT="0" marB="0"/>
                </a:tc>
                <a:extLst>
                  <a:ext uri="{0D108BD9-81ED-4DB2-BD59-A6C34878D82A}">
                    <a16:rowId xmlns:a16="http://schemas.microsoft.com/office/drawing/2014/main" val="2266185789"/>
                  </a:ext>
                </a:extLst>
              </a:tr>
              <a:tr h="1891392">
                <a:tc>
                  <a:txBody>
                    <a:bodyPr/>
                    <a:lstStyle/>
                    <a:p>
                      <a:pPr marL="0" marR="0" lvl="0">
                        <a:spcBef>
                          <a:spcPts val="0"/>
                        </a:spcBef>
                        <a:spcAft>
                          <a:spcPts val="0"/>
                        </a:spcAft>
                        <a:buNone/>
                      </a:pPr>
                      <a:r>
                        <a:rPr lang="en-US" sz="2400" dirty="0">
                          <a:effectLst/>
                          <a:latin typeface="Times New Roman"/>
                        </a:rPr>
                        <a:t>The study aimed to examine how the visual system adapts to optimize identification accuracy of alphanumeric stimuli based on the demands of reading. It found that letters and digits have a first-position advantage over symbols, even when randomly intermixed. The study suggests that information systems can benefit from considering these constraints to develop more effective and user-friendly systems.</a:t>
                      </a:r>
                    </a:p>
                  </a:txBody>
                  <a:tcPr marL="68580" marR="68580" marT="0" marB="0"/>
                </a:tc>
                <a:extLst>
                  <a:ext uri="{0D108BD9-81ED-4DB2-BD59-A6C34878D82A}">
                    <a16:rowId xmlns:a16="http://schemas.microsoft.com/office/drawing/2014/main" val="1778754022"/>
                  </a:ext>
                </a:extLst>
              </a:tr>
              <a:tr h="734785">
                <a:tc>
                  <a:txBody>
                    <a:bodyPr/>
                    <a:lstStyle/>
                    <a:p>
                      <a:pPr marL="0" marR="0" lvl="0" indent="0" algn="l">
                        <a:lnSpc>
                          <a:spcPct val="90000"/>
                        </a:lnSpc>
                        <a:spcBef>
                          <a:spcPts val="1000"/>
                        </a:spcBef>
                        <a:spcAft>
                          <a:spcPts val="0"/>
                        </a:spcAft>
                        <a:buNone/>
                      </a:pPr>
                      <a:r>
                        <a:rPr lang="en-US" sz="2200" b="0" i="0" u="none" strike="noStrike" noProof="0" dirty="0">
                          <a:solidFill>
                            <a:schemeClr val="tx1"/>
                          </a:solidFill>
                          <a:effectLst/>
                        </a:rPr>
                        <a:t>Visual system adapts to optimize the identification of alphanumeric stimuli based on the demands of reading.</a:t>
                      </a:r>
                    </a:p>
                  </a:txBody>
                  <a:tcPr marL="68580" marR="68580" marT="0" marB="0"/>
                </a:tc>
                <a:extLst>
                  <a:ext uri="{0D108BD9-81ED-4DB2-BD59-A6C34878D82A}">
                    <a16:rowId xmlns:a16="http://schemas.microsoft.com/office/drawing/2014/main" val="3629781462"/>
                  </a:ext>
                </a:extLst>
              </a:tr>
              <a:tr h="598714">
                <a:tc>
                  <a:txBody>
                    <a:bodyPr/>
                    <a:lstStyle/>
                    <a:p>
                      <a:pPr marL="0" lvl="0" indent="0" algn="l">
                        <a:lnSpc>
                          <a:spcPct val="90000"/>
                        </a:lnSpc>
                        <a:spcBef>
                          <a:spcPts val="1000"/>
                        </a:spcBef>
                        <a:spcAft>
                          <a:spcPts val="0"/>
                        </a:spcAft>
                        <a:buNone/>
                      </a:pPr>
                      <a:r>
                        <a:rPr lang="en-US" sz="2200" b="0" i="0" u="none" strike="noStrike" noProof="0" dirty="0" err="1">
                          <a:solidFill>
                            <a:schemeClr val="tx1"/>
                          </a:solidFill>
                          <a:effectLst/>
                          <a:latin typeface="Avenir Next LT Pro"/>
                        </a:rPr>
                        <a:t>Eg</a:t>
                      </a:r>
                      <a:r>
                        <a:rPr lang="en-US" sz="2200" b="0" i="0" u="none" strike="noStrike" noProof="0" dirty="0">
                          <a:solidFill>
                            <a:schemeClr val="tx1"/>
                          </a:solidFill>
                          <a:effectLst/>
                          <a:latin typeface="Avenir Next LT Pro"/>
                        </a:rPr>
                        <a:t>: What's your name? ||| What's </a:t>
                      </a:r>
                      <a:r>
                        <a:rPr lang="en-US" sz="2200" b="0" i="0" u="none" strike="noStrike" noProof="0" dirty="0" err="1">
                          <a:solidFill>
                            <a:schemeClr val="tx1"/>
                          </a:solidFill>
                          <a:effectLst/>
                          <a:latin typeface="Avenir Next LT Pro"/>
                        </a:rPr>
                        <a:t>yuor</a:t>
                      </a:r>
                      <a:r>
                        <a:rPr lang="en-US" sz="2200" b="0" i="0" u="none" strike="noStrike" noProof="0" dirty="0">
                          <a:solidFill>
                            <a:schemeClr val="tx1"/>
                          </a:solidFill>
                          <a:effectLst/>
                          <a:latin typeface="Avenir Next LT Pro"/>
                        </a:rPr>
                        <a:t> name?</a:t>
                      </a:r>
                      <a:endParaRPr lang="en-US" dirty="0"/>
                    </a:p>
                  </a:txBody>
                  <a:tcPr marL="68580" marR="68580" marT="0" marB="0"/>
                </a:tc>
                <a:extLst>
                  <a:ext uri="{0D108BD9-81ED-4DB2-BD59-A6C34878D82A}">
                    <a16:rowId xmlns:a16="http://schemas.microsoft.com/office/drawing/2014/main" val="2626761575"/>
                  </a:ext>
                </a:extLst>
              </a:tr>
            </a:tbl>
          </a:graphicData>
        </a:graphic>
      </p:graphicFrame>
    </p:spTree>
    <p:extLst>
      <p:ext uri="{BB962C8B-B14F-4D97-AF65-F5344CB8AC3E}">
        <p14:creationId xmlns:p14="http://schemas.microsoft.com/office/powerpoint/2010/main" val="13669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E4-70B4-1ADD-A30E-02315000B7CC}"/>
              </a:ext>
            </a:extLst>
          </p:cNvPr>
          <p:cNvSpPr>
            <a:spLocks noGrp="1"/>
          </p:cNvSpPr>
          <p:nvPr>
            <p:ph type="title"/>
          </p:nvPr>
        </p:nvSpPr>
        <p:spPr>
          <a:xfrm>
            <a:off x="1371600" y="-152428"/>
            <a:ext cx="10241280" cy="1234440"/>
          </a:xfrm>
        </p:spPr>
        <p:txBody>
          <a:bodyPr/>
          <a:lstStyle/>
          <a:p>
            <a:r>
              <a:rPr lang="en-US" dirty="0"/>
              <a:t>Brief summary of articles </a:t>
            </a:r>
          </a:p>
        </p:txBody>
      </p:sp>
      <p:sp>
        <p:nvSpPr>
          <p:cNvPr id="3" name="Content Placeholder 2">
            <a:extLst>
              <a:ext uri="{FF2B5EF4-FFF2-40B4-BE49-F238E27FC236}">
                <a16:creationId xmlns:a16="http://schemas.microsoft.com/office/drawing/2014/main" id="{C5383053-6242-19B7-7060-AB94AB681B40}"/>
              </a:ext>
            </a:extLst>
          </p:cNvPr>
          <p:cNvSpPr>
            <a:spLocks noGrp="1"/>
          </p:cNvSpPr>
          <p:nvPr>
            <p:ph idx="1"/>
          </p:nvPr>
        </p:nvSpPr>
        <p:spPr>
          <a:xfrm>
            <a:off x="1371600" y="1340477"/>
            <a:ext cx="10241280" cy="4884154"/>
          </a:xfrm>
        </p:spPr>
        <p:txBody>
          <a:bodyPr vert="horz" lIns="0" tIns="0" rIns="0" bIns="0" rtlCol="0" anchor="t">
            <a:normAutofit/>
          </a:bodyPr>
          <a:lstStyle/>
          <a:p>
            <a:pPr marL="0" indent="0">
              <a:buNone/>
            </a:pPr>
            <a:endParaRPr lang="en-US" b="0" i="0" dirty="0">
              <a:solidFill>
                <a:srgbClr val="000000"/>
              </a:solidFill>
              <a:effectLst/>
              <a:latin typeface="Times New Roman" panose="02020603050405020304" pitchFamily="18" charset="0"/>
              <a:cs typeface="Times New Roman"/>
            </a:endParaRPr>
          </a:p>
          <a:p>
            <a:endParaRPr lang="en-US" dirty="0"/>
          </a:p>
        </p:txBody>
      </p:sp>
      <p:graphicFrame>
        <p:nvGraphicFramePr>
          <p:cNvPr id="5" name="Table 4">
            <a:extLst>
              <a:ext uri="{FF2B5EF4-FFF2-40B4-BE49-F238E27FC236}">
                <a16:creationId xmlns:a16="http://schemas.microsoft.com/office/drawing/2014/main" id="{F4AB02D0-4223-D6EF-B75A-D2F618D923AB}"/>
              </a:ext>
            </a:extLst>
          </p:cNvPr>
          <p:cNvGraphicFramePr>
            <a:graphicFrameLocks noGrp="1"/>
          </p:cNvGraphicFramePr>
          <p:nvPr>
            <p:extLst>
              <p:ext uri="{D42A27DB-BD31-4B8C-83A1-F6EECF244321}">
                <p14:modId xmlns:p14="http://schemas.microsoft.com/office/powerpoint/2010/main" val="749441129"/>
              </p:ext>
            </p:extLst>
          </p:nvPr>
        </p:nvGraphicFramePr>
        <p:xfrm>
          <a:off x="612321" y="1347107"/>
          <a:ext cx="10957064" cy="4213927"/>
        </p:xfrm>
        <a:graphic>
          <a:graphicData uri="http://schemas.openxmlformats.org/drawingml/2006/table">
            <a:tbl>
              <a:tblPr firstRow="1" bandRow="1">
                <a:tableStyleId>{5C22544A-7EE6-4342-B048-85BDC9FD1C3A}</a:tableStyleId>
              </a:tblPr>
              <a:tblGrid>
                <a:gridCol w="10957064">
                  <a:extLst>
                    <a:ext uri="{9D8B030D-6E8A-4147-A177-3AD203B41FA5}">
                      <a16:colId xmlns:a16="http://schemas.microsoft.com/office/drawing/2014/main" val="3095188934"/>
                    </a:ext>
                  </a:extLst>
                </a:gridCol>
              </a:tblGrid>
              <a:tr h="356424">
                <a:tc>
                  <a:txBody>
                    <a:bodyPr/>
                    <a:lstStyle/>
                    <a:p>
                      <a:pPr marL="0" marR="0" lvl="0">
                        <a:spcBef>
                          <a:spcPts val="0"/>
                        </a:spcBef>
                        <a:spcAft>
                          <a:spcPts val="0"/>
                        </a:spcAft>
                        <a:buNone/>
                      </a:pPr>
                      <a:r>
                        <a:rPr lang="en-US" sz="2400" b="0" i="0" u="none" strike="noStrike" noProof="0" dirty="0">
                          <a:solidFill>
                            <a:schemeClr val="bg1"/>
                          </a:solidFill>
                          <a:effectLst/>
                          <a:latin typeface="Times New Roman"/>
                        </a:rPr>
                        <a:t>Paper 3: </a:t>
                      </a:r>
                      <a:r>
                        <a:rPr lang="en-US" sz="2400" b="1" i="0" u="none" strike="noStrike" noProof="0" dirty="0">
                          <a:solidFill>
                            <a:schemeClr val="bg1"/>
                          </a:solidFill>
                          <a:effectLst/>
                          <a:latin typeface="Times New Roman"/>
                        </a:rPr>
                        <a:t>Serial Position Effects in Recall of Television Commercials</a:t>
                      </a:r>
                      <a:endParaRPr lang="en-US" sz="2400" b="1">
                        <a:solidFill>
                          <a:schemeClr val="bg1"/>
                        </a:solidFill>
                        <a:latin typeface="Times New Roman"/>
                      </a:endParaRPr>
                    </a:p>
                  </a:txBody>
                  <a:tcPr marL="68580" marR="68580" marT="0" marB="0"/>
                </a:tc>
                <a:extLst>
                  <a:ext uri="{0D108BD9-81ED-4DB2-BD59-A6C34878D82A}">
                    <a16:rowId xmlns:a16="http://schemas.microsoft.com/office/drawing/2014/main" val="2266185789"/>
                  </a:ext>
                </a:extLst>
              </a:tr>
              <a:tr h="2827632">
                <a:tc>
                  <a:txBody>
                    <a:bodyPr/>
                    <a:lstStyle/>
                    <a:p>
                      <a:pPr marL="0" marR="0">
                        <a:spcBef>
                          <a:spcPts val="0"/>
                        </a:spcBef>
                        <a:spcAft>
                          <a:spcPts val="0"/>
                        </a:spcAft>
                      </a:pPr>
                      <a:r>
                        <a:rPr lang="en-US" sz="2400" dirty="0">
                          <a:effectLst/>
                          <a:latin typeface="Times New Roman"/>
                        </a:rPr>
                        <a:t>The study aimed to examine the effects of primacy and recency in memory for television commercials by controlling factors that may affect memory performance. The study found a strong primacy effect, but no consistent recency effect. The study emphasized the need for careful control of experimental factors and confirmed previous findings on the primacy effect. The study provides important insights into memory for television commercials, but further research is needed to fully understand memory for commercials in real-world settings.</a:t>
                      </a:r>
                    </a:p>
                  </a:txBody>
                  <a:tcPr marL="68580" marR="68580" marT="0" marB="0"/>
                </a:tc>
                <a:extLst>
                  <a:ext uri="{0D108BD9-81ED-4DB2-BD59-A6C34878D82A}">
                    <a16:rowId xmlns:a16="http://schemas.microsoft.com/office/drawing/2014/main" val="3391053070"/>
                  </a:ext>
                </a:extLst>
              </a:tr>
              <a:tr h="1020535">
                <a:tc>
                  <a:txBody>
                    <a:bodyPr/>
                    <a:lstStyle/>
                    <a:p>
                      <a:pPr lvl="0" algn="l">
                        <a:lnSpc>
                          <a:spcPct val="100000"/>
                        </a:lnSpc>
                        <a:spcBef>
                          <a:spcPts val="0"/>
                        </a:spcBef>
                        <a:spcAft>
                          <a:spcPts val="0"/>
                        </a:spcAft>
                        <a:buNone/>
                      </a:pPr>
                      <a:r>
                        <a:rPr lang="en-US" sz="2200" b="0" i="0" u="none" strike="noStrike" noProof="0" dirty="0">
                          <a:solidFill>
                            <a:schemeClr val="tx1"/>
                          </a:solidFill>
                          <a:effectLst/>
                        </a:rPr>
                        <a:t>Individual commercials presented in the first positions of the lists were better recalled than the same commercials presented later in the list.</a:t>
                      </a:r>
                    </a:p>
                  </a:txBody>
                  <a:tcPr marL="68580" marR="68580" marT="0" marB="0"/>
                </a:tc>
                <a:extLst>
                  <a:ext uri="{0D108BD9-81ED-4DB2-BD59-A6C34878D82A}">
                    <a16:rowId xmlns:a16="http://schemas.microsoft.com/office/drawing/2014/main" val="1064101045"/>
                  </a:ext>
                </a:extLst>
              </a:tr>
            </a:tbl>
          </a:graphicData>
        </a:graphic>
      </p:graphicFrame>
    </p:spTree>
    <p:extLst>
      <p:ext uri="{BB962C8B-B14F-4D97-AF65-F5344CB8AC3E}">
        <p14:creationId xmlns:p14="http://schemas.microsoft.com/office/powerpoint/2010/main" val="2588002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E4-70B4-1ADD-A30E-02315000B7CC}"/>
              </a:ext>
            </a:extLst>
          </p:cNvPr>
          <p:cNvSpPr>
            <a:spLocks noGrp="1"/>
          </p:cNvSpPr>
          <p:nvPr>
            <p:ph type="title"/>
          </p:nvPr>
        </p:nvSpPr>
        <p:spPr>
          <a:xfrm>
            <a:off x="1371600" y="-152428"/>
            <a:ext cx="10241280" cy="1234440"/>
          </a:xfrm>
        </p:spPr>
        <p:txBody>
          <a:bodyPr/>
          <a:lstStyle/>
          <a:p>
            <a:r>
              <a:rPr lang="en-US" dirty="0"/>
              <a:t>Brief summary of articles </a:t>
            </a:r>
          </a:p>
        </p:txBody>
      </p:sp>
      <p:sp>
        <p:nvSpPr>
          <p:cNvPr id="3" name="Content Placeholder 2">
            <a:extLst>
              <a:ext uri="{FF2B5EF4-FFF2-40B4-BE49-F238E27FC236}">
                <a16:creationId xmlns:a16="http://schemas.microsoft.com/office/drawing/2014/main" id="{C5383053-6242-19B7-7060-AB94AB681B40}"/>
              </a:ext>
            </a:extLst>
          </p:cNvPr>
          <p:cNvSpPr>
            <a:spLocks noGrp="1"/>
          </p:cNvSpPr>
          <p:nvPr>
            <p:ph idx="1"/>
          </p:nvPr>
        </p:nvSpPr>
        <p:spPr>
          <a:xfrm>
            <a:off x="1371600" y="1340477"/>
            <a:ext cx="10241280" cy="4884154"/>
          </a:xfrm>
        </p:spPr>
        <p:txBody>
          <a:bodyPr vert="horz" lIns="0" tIns="0" rIns="0" bIns="0" rtlCol="0" anchor="t">
            <a:normAutofit/>
          </a:bodyPr>
          <a:lstStyle/>
          <a:p>
            <a:pPr marL="0" indent="0">
              <a:buNone/>
            </a:pPr>
            <a:endParaRPr lang="en-US" b="0" i="0" dirty="0">
              <a:solidFill>
                <a:srgbClr val="000000"/>
              </a:solidFill>
              <a:effectLst/>
              <a:latin typeface="Times New Roman" panose="02020603050405020304" pitchFamily="18" charset="0"/>
              <a:cs typeface="Times New Roman"/>
            </a:endParaRPr>
          </a:p>
          <a:p>
            <a:endParaRPr lang="en-US" dirty="0"/>
          </a:p>
        </p:txBody>
      </p:sp>
      <p:graphicFrame>
        <p:nvGraphicFramePr>
          <p:cNvPr id="5" name="Table 4">
            <a:extLst>
              <a:ext uri="{FF2B5EF4-FFF2-40B4-BE49-F238E27FC236}">
                <a16:creationId xmlns:a16="http://schemas.microsoft.com/office/drawing/2014/main" id="{F4AB02D0-4223-D6EF-B75A-D2F618D923AB}"/>
              </a:ext>
            </a:extLst>
          </p:cNvPr>
          <p:cNvGraphicFramePr>
            <a:graphicFrameLocks noGrp="1"/>
          </p:cNvGraphicFramePr>
          <p:nvPr>
            <p:extLst>
              <p:ext uri="{D42A27DB-BD31-4B8C-83A1-F6EECF244321}">
                <p14:modId xmlns:p14="http://schemas.microsoft.com/office/powerpoint/2010/main" val="2329541569"/>
              </p:ext>
            </p:extLst>
          </p:nvPr>
        </p:nvGraphicFramePr>
        <p:xfrm>
          <a:off x="204107" y="1347107"/>
          <a:ext cx="11800711" cy="4800236"/>
        </p:xfrm>
        <a:graphic>
          <a:graphicData uri="http://schemas.openxmlformats.org/drawingml/2006/table">
            <a:tbl>
              <a:tblPr firstRow="1" bandRow="1">
                <a:tableStyleId>{5C22544A-7EE6-4342-B048-85BDC9FD1C3A}</a:tableStyleId>
              </a:tblPr>
              <a:tblGrid>
                <a:gridCol w="11800711">
                  <a:extLst>
                    <a:ext uri="{9D8B030D-6E8A-4147-A177-3AD203B41FA5}">
                      <a16:colId xmlns:a16="http://schemas.microsoft.com/office/drawing/2014/main" val="3095188934"/>
                    </a:ext>
                  </a:extLst>
                </a:gridCol>
              </a:tblGrid>
              <a:tr h="502556">
                <a:tc>
                  <a:txBody>
                    <a:bodyPr/>
                    <a:lstStyle/>
                    <a:p>
                      <a:pPr marL="0" marR="0" lvl="0">
                        <a:spcBef>
                          <a:spcPts val="0"/>
                        </a:spcBef>
                        <a:spcAft>
                          <a:spcPts val="0"/>
                        </a:spcAft>
                        <a:buNone/>
                      </a:pPr>
                      <a:r>
                        <a:rPr lang="en-US" sz="2400" b="0" i="0" u="none" strike="noStrike" noProof="0" dirty="0">
                          <a:solidFill>
                            <a:schemeClr val="bg1"/>
                          </a:solidFill>
                          <a:effectLst/>
                          <a:latin typeface="Times New Roman"/>
                        </a:rPr>
                        <a:t>Paper 4: </a:t>
                      </a:r>
                      <a:r>
                        <a:rPr lang="en-US" sz="2400" b="1" i="0" u="none" strike="noStrike" noProof="0" dirty="0">
                          <a:solidFill>
                            <a:schemeClr val="bg1"/>
                          </a:solidFill>
                          <a:effectLst/>
                          <a:latin typeface="Times New Roman"/>
                        </a:rPr>
                        <a:t>When the Best Appears to Be Saved for Last: Serial Position Effects on Choice</a:t>
                      </a:r>
                      <a:endParaRPr lang="en-US" b="1">
                        <a:solidFill>
                          <a:schemeClr val="bg1"/>
                        </a:solidFill>
                        <a:latin typeface="Times New Roman"/>
                      </a:endParaRPr>
                    </a:p>
                  </a:txBody>
                  <a:tcPr marL="68580" marR="68580" marT="0" marB="0"/>
                </a:tc>
                <a:extLst>
                  <a:ext uri="{0D108BD9-81ED-4DB2-BD59-A6C34878D82A}">
                    <a16:rowId xmlns:a16="http://schemas.microsoft.com/office/drawing/2014/main" val="2266185789"/>
                  </a:ext>
                </a:extLst>
              </a:tr>
              <a:tr h="502556">
                <a:tc>
                  <a:txBody>
                    <a:bodyPr/>
                    <a:lstStyle/>
                    <a:p>
                      <a:pPr lvl="0" algn="l">
                        <a:lnSpc>
                          <a:spcPct val="100000"/>
                        </a:lnSpc>
                        <a:spcBef>
                          <a:spcPts val="0"/>
                        </a:spcBef>
                        <a:spcAft>
                          <a:spcPts val="0"/>
                        </a:spcAft>
                        <a:buNone/>
                      </a:pPr>
                      <a:r>
                        <a:rPr lang="en-US" sz="2400" b="0" i="0" u="none" strike="noStrike" noProof="0" dirty="0">
                          <a:solidFill>
                            <a:srgbClr val="000000"/>
                          </a:solidFill>
                          <a:effectLst/>
                          <a:latin typeface="Times New Roman"/>
                        </a:rPr>
                        <a:t>This study investigates how the order in which choices are presented can impact decision-making and suggests that people tend to choose the last option even if it is inferior, due to a primacy bias. The study was conducted through multiple experiments with varying sample sizes and found that the sequence in which options were presented was the independent variable that influenced participants' choices. The study highlights the importance of understanding cognitive biases in decision-making and proposes that altering the order of options can be utilized to influence consumer decisions. The study has potential implications for designing user interfaces and optimizing them to leverage the serial position effect.</a:t>
                      </a:r>
                    </a:p>
                    <a:p>
                      <a:pPr marL="0" marR="0" lvl="0">
                        <a:spcBef>
                          <a:spcPts val="0"/>
                        </a:spcBef>
                        <a:spcAft>
                          <a:spcPts val="0"/>
                        </a:spcAft>
                        <a:buNone/>
                      </a:pPr>
                      <a:endParaRPr lang="en-US" sz="2400" dirty="0">
                        <a:effectLst/>
                        <a:latin typeface="Times New Roman"/>
                      </a:endParaRPr>
                    </a:p>
                  </a:txBody>
                  <a:tcPr marL="68580" marR="68580" marT="0" marB="0"/>
                </a:tc>
                <a:extLst>
                  <a:ext uri="{0D108BD9-81ED-4DB2-BD59-A6C34878D82A}">
                    <a16:rowId xmlns:a16="http://schemas.microsoft.com/office/drawing/2014/main" val="426494979"/>
                  </a:ext>
                </a:extLst>
              </a:tr>
              <a:tr h="502555">
                <a:tc>
                  <a:txBody>
                    <a:bodyPr/>
                    <a:lstStyle/>
                    <a:p>
                      <a:pPr marL="0" lvl="0">
                        <a:spcBef>
                          <a:spcPts val="0"/>
                        </a:spcBef>
                        <a:spcAft>
                          <a:spcPts val="0"/>
                        </a:spcAft>
                        <a:buNone/>
                      </a:pPr>
                      <a:r>
                        <a:rPr lang="en-US" sz="2200" b="0" i="0" u="none" strike="noStrike" noProof="0" dirty="0">
                          <a:solidFill>
                            <a:schemeClr val="tx1"/>
                          </a:solidFill>
                          <a:effectLst/>
                        </a:rPr>
                        <a:t>The findings have implications for marketing and consumer behavior, suggesting that altering the sequence of presenting options can be utilized to influence consumer decisions.</a:t>
                      </a:r>
                      <a:endParaRPr lang="en-US">
                        <a:solidFill>
                          <a:schemeClr val="tx1"/>
                        </a:solidFill>
                      </a:endParaRPr>
                    </a:p>
                  </a:txBody>
                  <a:tcPr marL="68580" marR="68580" marT="0" marB="0"/>
                </a:tc>
                <a:extLst>
                  <a:ext uri="{0D108BD9-81ED-4DB2-BD59-A6C34878D82A}">
                    <a16:rowId xmlns:a16="http://schemas.microsoft.com/office/drawing/2014/main" val="1847436376"/>
                  </a:ext>
                </a:extLst>
              </a:tr>
            </a:tbl>
          </a:graphicData>
        </a:graphic>
      </p:graphicFrame>
    </p:spTree>
    <p:extLst>
      <p:ext uri="{BB962C8B-B14F-4D97-AF65-F5344CB8AC3E}">
        <p14:creationId xmlns:p14="http://schemas.microsoft.com/office/powerpoint/2010/main" val="641815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76E4-70B4-1ADD-A30E-02315000B7CC}"/>
              </a:ext>
            </a:extLst>
          </p:cNvPr>
          <p:cNvSpPr>
            <a:spLocks noGrp="1"/>
          </p:cNvSpPr>
          <p:nvPr>
            <p:ph type="title"/>
          </p:nvPr>
        </p:nvSpPr>
        <p:spPr>
          <a:xfrm>
            <a:off x="1371600" y="-152428"/>
            <a:ext cx="10241280" cy="1234440"/>
          </a:xfrm>
        </p:spPr>
        <p:txBody>
          <a:bodyPr/>
          <a:lstStyle/>
          <a:p>
            <a:r>
              <a:rPr lang="en-US" dirty="0"/>
              <a:t>Brief summary of articles </a:t>
            </a:r>
          </a:p>
        </p:txBody>
      </p:sp>
      <p:sp>
        <p:nvSpPr>
          <p:cNvPr id="3" name="Content Placeholder 2">
            <a:extLst>
              <a:ext uri="{FF2B5EF4-FFF2-40B4-BE49-F238E27FC236}">
                <a16:creationId xmlns:a16="http://schemas.microsoft.com/office/drawing/2014/main" id="{C5383053-6242-19B7-7060-AB94AB681B40}"/>
              </a:ext>
            </a:extLst>
          </p:cNvPr>
          <p:cNvSpPr>
            <a:spLocks noGrp="1"/>
          </p:cNvSpPr>
          <p:nvPr>
            <p:ph idx="1"/>
          </p:nvPr>
        </p:nvSpPr>
        <p:spPr>
          <a:xfrm>
            <a:off x="1371600" y="1340477"/>
            <a:ext cx="10241280" cy="4884154"/>
          </a:xfrm>
        </p:spPr>
        <p:txBody>
          <a:bodyPr vert="horz" lIns="0" tIns="0" rIns="0" bIns="0" rtlCol="0" anchor="t">
            <a:normAutofit/>
          </a:bodyPr>
          <a:lstStyle/>
          <a:p>
            <a:pPr marL="0" indent="0">
              <a:buNone/>
            </a:pPr>
            <a:endParaRPr lang="en-US" b="0" i="0" dirty="0">
              <a:solidFill>
                <a:srgbClr val="000000"/>
              </a:solidFill>
              <a:effectLst/>
              <a:latin typeface="Times New Roman" panose="02020603050405020304" pitchFamily="18" charset="0"/>
              <a:cs typeface="Times New Roman"/>
            </a:endParaRPr>
          </a:p>
          <a:p>
            <a:endParaRPr lang="en-US" dirty="0"/>
          </a:p>
        </p:txBody>
      </p:sp>
      <p:graphicFrame>
        <p:nvGraphicFramePr>
          <p:cNvPr id="5" name="Table 4">
            <a:extLst>
              <a:ext uri="{FF2B5EF4-FFF2-40B4-BE49-F238E27FC236}">
                <a16:creationId xmlns:a16="http://schemas.microsoft.com/office/drawing/2014/main" id="{F4AB02D0-4223-D6EF-B75A-D2F618D923AB}"/>
              </a:ext>
            </a:extLst>
          </p:cNvPr>
          <p:cNvGraphicFramePr>
            <a:graphicFrameLocks noGrp="1"/>
          </p:cNvGraphicFramePr>
          <p:nvPr>
            <p:extLst>
              <p:ext uri="{D42A27DB-BD31-4B8C-83A1-F6EECF244321}">
                <p14:modId xmlns:p14="http://schemas.microsoft.com/office/powerpoint/2010/main" val="1463975126"/>
              </p:ext>
            </p:extLst>
          </p:nvPr>
        </p:nvGraphicFramePr>
        <p:xfrm>
          <a:off x="474979" y="1251313"/>
          <a:ext cx="11106770" cy="5022817"/>
        </p:xfrm>
        <a:graphic>
          <a:graphicData uri="http://schemas.openxmlformats.org/drawingml/2006/table">
            <a:tbl>
              <a:tblPr firstRow="1" bandRow="1">
                <a:tableStyleId>{5C22544A-7EE6-4342-B048-85BDC9FD1C3A}</a:tableStyleId>
              </a:tblPr>
              <a:tblGrid>
                <a:gridCol w="11106770">
                  <a:extLst>
                    <a:ext uri="{9D8B030D-6E8A-4147-A177-3AD203B41FA5}">
                      <a16:colId xmlns:a16="http://schemas.microsoft.com/office/drawing/2014/main" val="3095188934"/>
                    </a:ext>
                  </a:extLst>
                </a:gridCol>
              </a:tblGrid>
              <a:tr h="835009">
                <a:tc>
                  <a:txBody>
                    <a:bodyPr/>
                    <a:lstStyle/>
                    <a:p>
                      <a:pPr marL="0" marR="0" lvl="0">
                        <a:spcBef>
                          <a:spcPts val="0"/>
                        </a:spcBef>
                        <a:spcAft>
                          <a:spcPts val="0"/>
                        </a:spcAft>
                        <a:buNone/>
                      </a:pPr>
                      <a:r>
                        <a:rPr lang="en-US" sz="2400" b="0" i="0" u="none" strike="noStrike" noProof="0" dirty="0">
                          <a:solidFill>
                            <a:schemeClr val="bg1"/>
                          </a:solidFill>
                          <a:effectLst/>
                          <a:latin typeface="Times New Roman"/>
                        </a:rPr>
                        <a:t>Paper 5: </a:t>
                      </a:r>
                      <a:r>
                        <a:rPr lang="en-US" sz="2400" b="1" i="0" u="none" strike="noStrike" noProof="0" dirty="0">
                          <a:solidFill>
                            <a:schemeClr val="bg1"/>
                          </a:solidFill>
                          <a:effectLst/>
                          <a:latin typeface="Times New Roman"/>
                        </a:rPr>
                        <a:t>Serial position effects in implicit memory for multiple-digit numbers</a:t>
                      </a:r>
                    </a:p>
                  </a:txBody>
                  <a:tcPr marL="68580" marR="68580" marT="0" marB="0"/>
                </a:tc>
                <a:extLst>
                  <a:ext uri="{0D108BD9-81ED-4DB2-BD59-A6C34878D82A}">
                    <a16:rowId xmlns:a16="http://schemas.microsoft.com/office/drawing/2014/main" val="2266185789"/>
                  </a:ext>
                </a:extLst>
              </a:tr>
              <a:tr h="2332264">
                <a:tc>
                  <a:txBody>
                    <a:bodyPr/>
                    <a:lstStyle/>
                    <a:p>
                      <a:pPr marL="0" lvl="0">
                        <a:spcBef>
                          <a:spcPts val="0"/>
                        </a:spcBef>
                        <a:spcAft>
                          <a:spcPts val="0"/>
                        </a:spcAft>
                        <a:buNone/>
                      </a:pPr>
                      <a:r>
                        <a:rPr lang="en-US" sz="2400" b="0" i="0" u="none" strike="noStrike" noProof="0" dirty="0">
                          <a:solidFill>
                            <a:srgbClr val="000000"/>
                          </a:solidFill>
                          <a:effectLst/>
                          <a:latin typeface="Times New Roman"/>
                        </a:rPr>
                        <a:t>This study examines the impact of the serial position effect on implicit memory retention of multiple-digit numbers. The authors find that the primacy and recency effects influence the probability of numbers being remembered, with better retention at the beginning and end of a list. The study suggests practical applications for memory-focused information systems, such as suggesting users create passwords that utilize the serial position effect.</a:t>
                      </a:r>
                      <a:endParaRPr lang="en-US" dirty="0"/>
                    </a:p>
                  </a:txBody>
                  <a:tcPr marL="68580" marR="68580" marT="0" marB="0"/>
                </a:tc>
                <a:extLst>
                  <a:ext uri="{0D108BD9-81ED-4DB2-BD59-A6C34878D82A}">
                    <a16:rowId xmlns:a16="http://schemas.microsoft.com/office/drawing/2014/main" val="1898933202"/>
                  </a:ext>
                </a:extLst>
              </a:tr>
              <a:tr h="1020535">
                <a:tc>
                  <a:txBody>
                    <a:bodyPr/>
                    <a:lstStyle/>
                    <a:p>
                      <a:pPr marL="0" marR="0" lvl="0" indent="0" algn="l">
                        <a:lnSpc>
                          <a:spcPct val="90000"/>
                        </a:lnSpc>
                        <a:spcBef>
                          <a:spcPts val="1000"/>
                        </a:spcBef>
                        <a:spcAft>
                          <a:spcPts val="0"/>
                        </a:spcAft>
                        <a:buNone/>
                      </a:pPr>
                      <a:r>
                        <a:rPr lang="en-US" sz="2200" b="0" i="0" u="none" strike="noStrike" noProof="0" dirty="0">
                          <a:solidFill>
                            <a:schemeClr val="tx1"/>
                          </a:solidFill>
                          <a:effectLst/>
                        </a:rPr>
                        <a:t>The findings have practical implications for creating memory-focused information systems, such as password systems, which could consider the impact of serial position to enhance retention.</a:t>
                      </a:r>
                      <a:endParaRPr lang="en-US" dirty="0">
                        <a:solidFill>
                          <a:schemeClr val="tx1"/>
                        </a:solidFill>
                      </a:endParaRPr>
                    </a:p>
                  </a:txBody>
                  <a:tcPr marL="68580" marR="68580" marT="0" marB="0"/>
                </a:tc>
                <a:extLst>
                  <a:ext uri="{0D108BD9-81ED-4DB2-BD59-A6C34878D82A}">
                    <a16:rowId xmlns:a16="http://schemas.microsoft.com/office/drawing/2014/main" val="4034317356"/>
                  </a:ext>
                </a:extLst>
              </a:tr>
              <a:tr h="835009">
                <a:tc>
                  <a:txBody>
                    <a:bodyPr/>
                    <a:lstStyle/>
                    <a:p>
                      <a:pPr marL="0" marR="0" lvl="0" indent="0" algn="l">
                        <a:lnSpc>
                          <a:spcPct val="90000"/>
                        </a:lnSpc>
                        <a:spcBef>
                          <a:spcPts val="1000"/>
                        </a:spcBef>
                        <a:spcAft>
                          <a:spcPts val="0"/>
                        </a:spcAft>
                        <a:buNone/>
                      </a:pPr>
                      <a:r>
                        <a:rPr lang="en-US" sz="2200" b="0" i="0" u="none" strike="noStrike" noProof="0" dirty="0" err="1">
                          <a:solidFill>
                            <a:schemeClr val="tx1"/>
                          </a:solidFill>
                          <a:effectLst/>
                          <a:latin typeface="Avenir Next LT Pro"/>
                        </a:rPr>
                        <a:t>Eg</a:t>
                      </a:r>
                      <a:r>
                        <a:rPr lang="en-US" sz="2200" b="0" i="0" u="none" strike="noStrike" noProof="0" dirty="0">
                          <a:solidFill>
                            <a:schemeClr val="tx1"/>
                          </a:solidFill>
                          <a:effectLst/>
                          <a:latin typeface="Avenir Next LT Pro"/>
                        </a:rPr>
                        <a:t>: Password – INFSCI2300 or 2300INFSCI can be remembered easily.</a:t>
                      </a:r>
                    </a:p>
                    <a:p>
                      <a:pPr marL="0" marR="0" lvl="0" indent="0" algn="l">
                        <a:lnSpc>
                          <a:spcPct val="90000"/>
                        </a:lnSpc>
                        <a:spcBef>
                          <a:spcPts val="1000"/>
                        </a:spcBef>
                        <a:spcAft>
                          <a:spcPts val="0"/>
                        </a:spcAft>
                        <a:buNone/>
                      </a:pPr>
                      <a:r>
                        <a:rPr lang="en-US" sz="2200" b="0" i="0" u="none" strike="noStrike" noProof="0" dirty="0">
                          <a:solidFill>
                            <a:schemeClr val="tx1"/>
                          </a:solidFill>
                          <a:effectLst/>
                          <a:latin typeface="Avenir Next LT Pro"/>
                        </a:rPr>
                        <a:t>       Password – IN2300FSCI can't be remembered easily.</a:t>
                      </a:r>
                    </a:p>
                  </a:txBody>
                  <a:tcPr marL="68580" marR="68580" marT="0" marB="0"/>
                </a:tc>
                <a:extLst>
                  <a:ext uri="{0D108BD9-81ED-4DB2-BD59-A6C34878D82A}">
                    <a16:rowId xmlns:a16="http://schemas.microsoft.com/office/drawing/2014/main" val="2413566702"/>
                  </a:ext>
                </a:extLst>
              </a:tr>
            </a:tbl>
          </a:graphicData>
        </a:graphic>
      </p:graphicFrame>
    </p:spTree>
    <p:extLst>
      <p:ext uri="{BB962C8B-B14F-4D97-AF65-F5344CB8AC3E}">
        <p14:creationId xmlns:p14="http://schemas.microsoft.com/office/powerpoint/2010/main" val="1269881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F515E-0AB9-A053-96B2-9923D3BA73B1}"/>
              </a:ext>
            </a:extLst>
          </p:cNvPr>
          <p:cNvSpPr>
            <a:spLocks noGrp="1"/>
          </p:cNvSpPr>
          <p:nvPr>
            <p:ph type="title"/>
          </p:nvPr>
        </p:nvSpPr>
        <p:spPr>
          <a:xfrm>
            <a:off x="284861" y="531528"/>
            <a:ext cx="5929422" cy="1227048"/>
          </a:xfrm>
        </p:spPr>
        <p:txBody>
          <a:bodyPr>
            <a:normAutofit fontScale="90000"/>
          </a:bodyPr>
          <a:lstStyle/>
          <a:p>
            <a:r>
              <a:rPr lang="en-US" sz="4000" dirty="0"/>
              <a:t>How are these articles connected??</a:t>
            </a:r>
          </a:p>
        </p:txBody>
      </p:sp>
      <p:sp>
        <p:nvSpPr>
          <p:cNvPr id="3" name="Content Placeholder 2">
            <a:extLst>
              <a:ext uri="{FF2B5EF4-FFF2-40B4-BE49-F238E27FC236}">
                <a16:creationId xmlns:a16="http://schemas.microsoft.com/office/drawing/2014/main" id="{2CB3F812-50A7-0CB3-B54E-E1FD432ECDF5}"/>
              </a:ext>
            </a:extLst>
          </p:cNvPr>
          <p:cNvSpPr>
            <a:spLocks noGrp="1"/>
          </p:cNvSpPr>
          <p:nvPr>
            <p:ph idx="1"/>
          </p:nvPr>
        </p:nvSpPr>
        <p:spPr>
          <a:xfrm>
            <a:off x="284862" y="1906813"/>
            <a:ext cx="7677938" cy="4111432"/>
          </a:xfrm>
        </p:spPr>
        <p:txBody>
          <a:bodyPr vert="horz" lIns="0" tIns="0" rIns="0" bIns="0" rtlCol="0" anchor="t">
            <a:noAutofit/>
          </a:bodyPr>
          <a:lstStyle/>
          <a:p>
            <a:pPr>
              <a:buNone/>
            </a:pPr>
            <a:r>
              <a:rPr lang="en-US" dirty="0">
                <a:latin typeface="Times New Roman"/>
                <a:cs typeface="Times New Roman"/>
              </a:rPr>
              <a:t>The papers highlight the importance of understanding the serial position effect in memory and decision-making processes. They suggest that the order in which information is presented can have a significant impact on how it is remembered and how choices are made. The papers provide insights into how the brain processes and stores information, and offer practical applications for designing effective advertising campaigns, user interfaces, and information systems. The studies suggest that considering the constraints of reading and memory performance can lead to more user-friendly and effective information systems, and that altering the presentation order of choices can be utilized to influence consumer decisions.</a:t>
            </a:r>
            <a:endParaRPr lang="en-US"/>
          </a:p>
          <a:p>
            <a:pPr>
              <a:buNone/>
            </a:pPr>
            <a:endParaRPr lang="en-US" b="1" dirty="0">
              <a:latin typeface="Times New Roman"/>
              <a:cs typeface="Times New Roman"/>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ogramming data on computer monitor">
            <a:extLst>
              <a:ext uri="{FF2B5EF4-FFF2-40B4-BE49-F238E27FC236}">
                <a16:creationId xmlns:a16="http://schemas.microsoft.com/office/drawing/2014/main" id="{F30F5269-E472-672E-DF0C-0CF709C50C5E}"/>
              </a:ext>
            </a:extLst>
          </p:cNvPr>
          <p:cNvPicPr>
            <a:picLocks noChangeAspect="1"/>
          </p:cNvPicPr>
          <p:nvPr/>
        </p:nvPicPr>
        <p:blipFill rotWithShape="1">
          <a:blip r:embed="rId2"/>
          <a:srcRect l="33774" r="23831" b="1"/>
          <a:stretch/>
        </p:blipFill>
        <p:spPr>
          <a:xfrm>
            <a:off x="8115300" y="-12515"/>
            <a:ext cx="4076700" cy="6418631"/>
          </a:xfrm>
          <a:prstGeom prst="rect">
            <a:avLst/>
          </a:prstGeom>
        </p:spPr>
      </p:pic>
    </p:spTree>
    <p:extLst>
      <p:ext uri="{BB962C8B-B14F-4D97-AF65-F5344CB8AC3E}">
        <p14:creationId xmlns:p14="http://schemas.microsoft.com/office/powerpoint/2010/main" val="3378437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F515E-0AB9-A053-96B2-9923D3BA73B1}"/>
              </a:ext>
            </a:extLst>
          </p:cNvPr>
          <p:cNvSpPr>
            <a:spLocks noGrp="1"/>
          </p:cNvSpPr>
          <p:nvPr>
            <p:ph type="title"/>
          </p:nvPr>
        </p:nvSpPr>
        <p:spPr>
          <a:xfrm>
            <a:off x="278057" y="177742"/>
            <a:ext cx="5929422" cy="1227048"/>
          </a:xfrm>
        </p:spPr>
        <p:txBody>
          <a:bodyPr>
            <a:normAutofit/>
          </a:bodyPr>
          <a:lstStyle/>
          <a:p>
            <a:r>
              <a:rPr lang="en-US" sz="4000"/>
              <a:t>Potential implications</a:t>
            </a:r>
          </a:p>
        </p:txBody>
      </p:sp>
      <p:sp>
        <p:nvSpPr>
          <p:cNvPr id="3" name="Content Placeholder 2">
            <a:extLst>
              <a:ext uri="{FF2B5EF4-FFF2-40B4-BE49-F238E27FC236}">
                <a16:creationId xmlns:a16="http://schemas.microsoft.com/office/drawing/2014/main" id="{2CB3F812-50A7-0CB3-B54E-E1FD432ECDF5}"/>
              </a:ext>
            </a:extLst>
          </p:cNvPr>
          <p:cNvSpPr>
            <a:spLocks noGrp="1"/>
          </p:cNvSpPr>
          <p:nvPr>
            <p:ph idx="1"/>
          </p:nvPr>
        </p:nvSpPr>
        <p:spPr>
          <a:xfrm>
            <a:off x="291665" y="1607456"/>
            <a:ext cx="7671135" cy="4410789"/>
          </a:xfrm>
        </p:spPr>
        <p:txBody>
          <a:bodyPr vert="horz" lIns="0" tIns="0" rIns="0" bIns="0" rtlCol="0" anchor="t">
            <a:noAutofit/>
          </a:bodyPr>
          <a:lstStyle/>
          <a:p>
            <a:pPr>
              <a:buNone/>
            </a:pPr>
            <a:r>
              <a:rPr lang="en-US" sz="1400" b="1" dirty="0">
                <a:latin typeface="Times New Roman"/>
                <a:cs typeface="Times New Roman"/>
              </a:rPr>
              <a:t>Implication 1:</a:t>
            </a:r>
            <a:endParaRPr lang="en-US" sz="1400"/>
          </a:p>
          <a:p>
            <a:pPr>
              <a:buNone/>
            </a:pPr>
            <a:r>
              <a:rPr lang="en-US" sz="1400" dirty="0">
                <a:latin typeface="Times New Roman"/>
                <a:cs typeface="Times New Roman"/>
              </a:rPr>
              <a:t>Website developers and advertisers can benefit from understanding the serial position effect by strategically placing important information and products at the beginning and end of a page or commercial break.</a:t>
            </a:r>
            <a:endParaRPr lang="en-US" sz="1400"/>
          </a:p>
          <a:p>
            <a:pPr>
              <a:buNone/>
            </a:pPr>
            <a:r>
              <a:rPr lang="en-US" sz="1400" b="1" dirty="0">
                <a:latin typeface="Times New Roman"/>
                <a:cs typeface="Times New Roman"/>
              </a:rPr>
              <a:t>Rationale 1:</a:t>
            </a:r>
            <a:endParaRPr lang="en-US" sz="1400"/>
          </a:p>
          <a:p>
            <a:pPr>
              <a:buNone/>
            </a:pPr>
            <a:r>
              <a:rPr lang="en-US" sz="1400" dirty="0">
                <a:latin typeface="Times New Roman"/>
                <a:cs typeface="Times New Roman"/>
              </a:rPr>
              <a:t>The first article discusses how the serial position effect can be utilized to improve website design and advertising. By understanding that people remember the first and last items on a list more easily, developers can strategically place important information and products at the beginning and end of a page or commercial break, where they are more likely to be noticed and remembered. This strategy has been shown to be effective in increasing attention and recall.</a:t>
            </a:r>
            <a:endParaRPr lang="en-US" sz="1400"/>
          </a:p>
          <a:p>
            <a:pPr>
              <a:buNone/>
            </a:pPr>
            <a:r>
              <a:rPr lang="en-US" sz="1400" b="1" dirty="0">
                <a:latin typeface="Times New Roman"/>
                <a:cs typeface="Times New Roman"/>
              </a:rPr>
              <a:t>Evaluation 1:</a:t>
            </a:r>
            <a:endParaRPr lang="en-US" sz="1400"/>
          </a:p>
          <a:p>
            <a:pPr>
              <a:buNone/>
            </a:pPr>
            <a:r>
              <a:rPr lang="en-US" sz="1400" dirty="0">
                <a:latin typeface="Times New Roman"/>
                <a:cs typeface="Times New Roman"/>
              </a:rPr>
              <a:t>A future study could evaluate the impact of manipulating the serial position of products or information on website performance or advertising effectiveness. For instance, researchers could conduct an experiment where they create two versions of a website or commercial with the same content but different serial positions of the important information or products, and then measure the participants' attention, recall, and choice.</a:t>
            </a:r>
            <a:endParaRPr lang="en-US" sz="1400"/>
          </a:p>
          <a:p>
            <a:pPr marL="0" indent="0">
              <a:lnSpc>
                <a:spcPct val="110000"/>
              </a:lnSpc>
              <a:buNone/>
            </a:pPr>
            <a:endParaRPr lang="en-US" sz="1600" dirty="0">
              <a:latin typeface="Calibri"/>
              <a:cs typeface="Times New Roman"/>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ogramming data on computer monitor">
            <a:extLst>
              <a:ext uri="{FF2B5EF4-FFF2-40B4-BE49-F238E27FC236}">
                <a16:creationId xmlns:a16="http://schemas.microsoft.com/office/drawing/2014/main" id="{F30F5269-E472-672E-DF0C-0CF709C50C5E}"/>
              </a:ext>
            </a:extLst>
          </p:cNvPr>
          <p:cNvPicPr>
            <a:picLocks noChangeAspect="1"/>
          </p:cNvPicPr>
          <p:nvPr/>
        </p:nvPicPr>
        <p:blipFill rotWithShape="1">
          <a:blip r:embed="rId2"/>
          <a:srcRect l="33774" r="23831" b="1"/>
          <a:stretch/>
        </p:blipFill>
        <p:spPr>
          <a:xfrm>
            <a:off x="8115300" y="-12515"/>
            <a:ext cx="4076700" cy="6418631"/>
          </a:xfrm>
          <a:prstGeom prst="rect">
            <a:avLst/>
          </a:prstGeom>
        </p:spPr>
      </p:pic>
    </p:spTree>
    <p:extLst>
      <p:ext uri="{BB962C8B-B14F-4D97-AF65-F5344CB8AC3E}">
        <p14:creationId xmlns:p14="http://schemas.microsoft.com/office/powerpoint/2010/main" val="2025688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F515E-0AB9-A053-96B2-9923D3BA73B1}"/>
              </a:ext>
            </a:extLst>
          </p:cNvPr>
          <p:cNvSpPr>
            <a:spLocks noGrp="1"/>
          </p:cNvSpPr>
          <p:nvPr>
            <p:ph type="title"/>
          </p:nvPr>
        </p:nvSpPr>
        <p:spPr>
          <a:xfrm>
            <a:off x="278057" y="177742"/>
            <a:ext cx="5929422" cy="1227048"/>
          </a:xfrm>
        </p:spPr>
        <p:txBody>
          <a:bodyPr>
            <a:normAutofit/>
          </a:bodyPr>
          <a:lstStyle/>
          <a:p>
            <a:r>
              <a:rPr lang="en-US" sz="4000"/>
              <a:t>Potential implications</a:t>
            </a:r>
          </a:p>
        </p:txBody>
      </p:sp>
      <p:sp>
        <p:nvSpPr>
          <p:cNvPr id="3" name="Content Placeholder 2">
            <a:extLst>
              <a:ext uri="{FF2B5EF4-FFF2-40B4-BE49-F238E27FC236}">
                <a16:creationId xmlns:a16="http://schemas.microsoft.com/office/drawing/2014/main" id="{2CB3F812-50A7-0CB3-B54E-E1FD432ECDF5}"/>
              </a:ext>
            </a:extLst>
          </p:cNvPr>
          <p:cNvSpPr>
            <a:spLocks noGrp="1"/>
          </p:cNvSpPr>
          <p:nvPr>
            <p:ph idx="1"/>
          </p:nvPr>
        </p:nvSpPr>
        <p:spPr>
          <a:xfrm>
            <a:off x="291665" y="1607456"/>
            <a:ext cx="7671135" cy="4410789"/>
          </a:xfrm>
        </p:spPr>
        <p:txBody>
          <a:bodyPr vert="horz" lIns="0" tIns="0" rIns="0" bIns="0" rtlCol="0" anchor="t">
            <a:noAutofit/>
          </a:bodyPr>
          <a:lstStyle/>
          <a:p>
            <a:pPr>
              <a:buNone/>
            </a:pPr>
            <a:r>
              <a:rPr lang="en-US" sz="1300" b="1" dirty="0">
                <a:latin typeface="Times New Roman"/>
                <a:cs typeface="Times New Roman"/>
              </a:rPr>
              <a:t>Implication 2:</a:t>
            </a:r>
            <a:endParaRPr lang="en-US" sz="1300" dirty="0"/>
          </a:p>
          <a:p>
            <a:pPr>
              <a:buNone/>
            </a:pPr>
            <a:r>
              <a:rPr lang="en-US" sz="1300" dirty="0">
                <a:latin typeface="Times New Roman"/>
                <a:cs typeface="Times New Roman"/>
              </a:rPr>
              <a:t>The visual system adapts to optimize the identification accuracy of alphanumeric stimuli based on the constraints of reading, which can be utilized to develop more effective and user-friendly information systems.</a:t>
            </a:r>
            <a:endParaRPr lang="en-US" sz="1300" dirty="0"/>
          </a:p>
          <a:p>
            <a:pPr>
              <a:buNone/>
            </a:pPr>
            <a:r>
              <a:rPr lang="en-US" sz="1300" b="1" dirty="0">
                <a:latin typeface="Times New Roman"/>
                <a:cs typeface="Times New Roman"/>
              </a:rPr>
              <a:t>Rationale 2:</a:t>
            </a:r>
            <a:endParaRPr lang="en-US" sz="1300" dirty="0"/>
          </a:p>
          <a:p>
            <a:pPr>
              <a:buNone/>
            </a:pPr>
            <a:r>
              <a:rPr lang="en-US" sz="1300" dirty="0">
                <a:latin typeface="Times New Roman"/>
                <a:cs typeface="Times New Roman"/>
              </a:rPr>
              <a:t>The second article shows that the visual system adapts to optimize the identification accuracy of alphanumeric stimuli, such as letters, digits, and symbols, based on the demands of reading. The study found that letters and digits have a first-position advantage over symbols, with higher levels of performance when presented at the beginning of a string. This understanding of how the visual system adapts to optimize the identification accuracy of alphanumeric stimuli can be utilized to develop more effective and user-friendly information systems. For instance, information systems could present important information or options at the beginning of a list or menu to improve users' identification accuracy and decision-making.</a:t>
            </a:r>
            <a:endParaRPr lang="en-US" sz="1300" dirty="0"/>
          </a:p>
          <a:p>
            <a:pPr>
              <a:buNone/>
            </a:pPr>
            <a:r>
              <a:rPr lang="en-US" sz="1300" b="1" dirty="0">
                <a:latin typeface="Times New Roman"/>
                <a:cs typeface="Times New Roman"/>
              </a:rPr>
              <a:t>Evaluation 2:</a:t>
            </a:r>
            <a:endParaRPr lang="en-US" dirty="0"/>
          </a:p>
          <a:p>
            <a:pPr>
              <a:buNone/>
            </a:pPr>
            <a:r>
              <a:rPr lang="en-US" sz="1300" dirty="0">
                <a:latin typeface="Times New Roman"/>
                <a:cs typeface="Times New Roman"/>
              </a:rPr>
              <a:t>A future study could evaluate the impact of manipulating the serial position of alphanumeric stimuli on users' identification accuracy and decision-making in information systems. For instance, researchers could conduct an experiment where they create two versions of a menu with the same content but different serial positions of the options, and then measure the participants' identification accuracy and choice.</a:t>
            </a:r>
            <a:endParaRPr lang="en-US" dirty="0"/>
          </a:p>
          <a:p>
            <a:pPr>
              <a:buNone/>
            </a:pPr>
            <a:endParaRPr lang="en-US" sz="1400" b="1" dirty="0">
              <a:latin typeface="Times New Roman"/>
              <a:cs typeface="Times New Roman"/>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ogramming data on computer monitor">
            <a:extLst>
              <a:ext uri="{FF2B5EF4-FFF2-40B4-BE49-F238E27FC236}">
                <a16:creationId xmlns:a16="http://schemas.microsoft.com/office/drawing/2014/main" id="{F30F5269-E472-672E-DF0C-0CF709C50C5E}"/>
              </a:ext>
            </a:extLst>
          </p:cNvPr>
          <p:cNvPicPr>
            <a:picLocks noChangeAspect="1"/>
          </p:cNvPicPr>
          <p:nvPr/>
        </p:nvPicPr>
        <p:blipFill rotWithShape="1">
          <a:blip r:embed="rId2"/>
          <a:srcRect l="33774" r="23831" b="1"/>
          <a:stretch/>
        </p:blipFill>
        <p:spPr>
          <a:xfrm>
            <a:off x="8115300" y="-12515"/>
            <a:ext cx="4076700" cy="6418631"/>
          </a:xfrm>
          <a:prstGeom prst="rect">
            <a:avLst/>
          </a:prstGeom>
        </p:spPr>
      </p:pic>
    </p:spTree>
    <p:extLst>
      <p:ext uri="{BB962C8B-B14F-4D97-AF65-F5344CB8AC3E}">
        <p14:creationId xmlns:p14="http://schemas.microsoft.com/office/powerpoint/2010/main" val="23952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F515E-0AB9-A053-96B2-9923D3BA73B1}"/>
              </a:ext>
            </a:extLst>
          </p:cNvPr>
          <p:cNvSpPr>
            <a:spLocks noGrp="1"/>
          </p:cNvSpPr>
          <p:nvPr>
            <p:ph type="title"/>
          </p:nvPr>
        </p:nvSpPr>
        <p:spPr>
          <a:xfrm>
            <a:off x="278057" y="177742"/>
            <a:ext cx="5929422" cy="1227048"/>
          </a:xfrm>
        </p:spPr>
        <p:txBody>
          <a:bodyPr>
            <a:normAutofit/>
          </a:bodyPr>
          <a:lstStyle/>
          <a:p>
            <a:r>
              <a:rPr lang="en-US" sz="4000"/>
              <a:t>Potential implications</a:t>
            </a:r>
          </a:p>
        </p:txBody>
      </p:sp>
      <p:sp>
        <p:nvSpPr>
          <p:cNvPr id="3" name="Content Placeholder 2">
            <a:extLst>
              <a:ext uri="{FF2B5EF4-FFF2-40B4-BE49-F238E27FC236}">
                <a16:creationId xmlns:a16="http://schemas.microsoft.com/office/drawing/2014/main" id="{2CB3F812-50A7-0CB3-B54E-E1FD432ECDF5}"/>
              </a:ext>
            </a:extLst>
          </p:cNvPr>
          <p:cNvSpPr>
            <a:spLocks noGrp="1"/>
          </p:cNvSpPr>
          <p:nvPr>
            <p:ph idx="1"/>
          </p:nvPr>
        </p:nvSpPr>
        <p:spPr>
          <a:xfrm>
            <a:off x="284862" y="1607456"/>
            <a:ext cx="7677938" cy="4682931"/>
          </a:xfrm>
        </p:spPr>
        <p:txBody>
          <a:bodyPr vert="horz" lIns="0" tIns="0" rIns="0" bIns="0" rtlCol="0" anchor="t">
            <a:noAutofit/>
          </a:bodyPr>
          <a:lstStyle/>
          <a:p>
            <a:pPr>
              <a:buNone/>
            </a:pPr>
            <a:r>
              <a:rPr lang="en-US" sz="1400" b="1" dirty="0">
                <a:latin typeface="Times New Roman"/>
                <a:cs typeface="Times New Roman"/>
              </a:rPr>
              <a:t>Implication 3:</a:t>
            </a:r>
            <a:endParaRPr lang="en-US" sz="1400"/>
          </a:p>
          <a:p>
            <a:pPr>
              <a:buNone/>
            </a:pPr>
            <a:r>
              <a:rPr lang="en-US" sz="1400" dirty="0">
                <a:latin typeface="Times New Roman"/>
                <a:cs typeface="Times New Roman"/>
              </a:rPr>
              <a:t>Serial position effects can impact decision-making even when the optimal choice is not presented last, highlighting the need for careful consideration of presentation order in decision-making contexts.</a:t>
            </a:r>
            <a:endParaRPr lang="en-US" sz="1400"/>
          </a:p>
          <a:p>
            <a:pPr>
              <a:buNone/>
            </a:pPr>
            <a:r>
              <a:rPr lang="en-US" sz="1400" b="1" dirty="0">
                <a:latin typeface="Times New Roman"/>
                <a:cs typeface="Times New Roman"/>
              </a:rPr>
              <a:t>Rationale 3:</a:t>
            </a:r>
            <a:endParaRPr lang="en-US" sz="1400"/>
          </a:p>
          <a:p>
            <a:pPr>
              <a:buNone/>
            </a:pPr>
            <a:r>
              <a:rPr lang="en-US" sz="1400" dirty="0">
                <a:latin typeface="Times New Roman"/>
                <a:cs typeface="Times New Roman"/>
              </a:rPr>
              <a:t>The fourth article shows that the sequence of presenting alternatives can impact individuals' decisions, even when those decisions may not be the optimal ones. The study found that participants were more likely to choose the last option presented, even when it was not the best option. This finding highlights the need for careful consideration of presentation order in decision-making contexts, as the sequence in which choices are presented can impact individuals' decisions.</a:t>
            </a:r>
            <a:endParaRPr lang="en-US" sz="1400"/>
          </a:p>
          <a:p>
            <a:pPr>
              <a:buNone/>
            </a:pPr>
            <a:r>
              <a:rPr lang="en-US" sz="1400" b="1" dirty="0">
                <a:latin typeface="Times New Roman"/>
                <a:cs typeface="Times New Roman"/>
              </a:rPr>
              <a:t>Evaluation 3:</a:t>
            </a:r>
            <a:endParaRPr lang="en-US" sz="1400"/>
          </a:p>
          <a:p>
            <a:pPr>
              <a:buNone/>
            </a:pPr>
            <a:r>
              <a:rPr lang="en-US" sz="1400" dirty="0">
                <a:latin typeface="Times New Roman"/>
                <a:cs typeface="Times New Roman"/>
              </a:rPr>
              <a:t>A future study could evaluate the impact of manipulating the serial position of options on decision-making in different contexts. For instance, researchers could conduct an experiment where they create two versions of a menu or product list with the same content but different serial positions of the options, and then measure the participants' choice and satisfaction. This could provide insights into how serial position effects can be used to nudge individuals towards more desirable choices.</a:t>
            </a:r>
            <a:endParaRPr lang="en-US" sz="1400" dirty="0"/>
          </a:p>
          <a:p>
            <a:pPr>
              <a:buNone/>
            </a:pPr>
            <a:endParaRPr lang="en-US" sz="1400" b="1" dirty="0">
              <a:latin typeface="Times New Roman"/>
              <a:cs typeface="Times New Roman"/>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ogramming data on computer monitor">
            <a:extLst>
              <a:ext uri="{FF2B5EF4-FFF2-40B4-BE49-F238E27FC236}">
                <a16:creationId xmlns:a16="http://schemas.microsoft.com/office/drawing/2014/main" id="{F30F5269-E472-672E-DF0C-0CF709C50C5E}"/>
              </a:ext>
            </a:extLst>
          </p:cNvPr>
          <p:cNvPicPr>
            <a:picLocks noChangeAspect="1"/>
          </p:cNvPicPr>
          <p:nvPr/>
        </p:nvPicPr>
        <p:blipFill rotWithShape="1">
          <a:blip r:embed="rId2"/>
          <a:srcRect l="33774" r="23831" b="1"/>
          <a:stretch/>
        </p:blipFill>
        <p:spPr>
          <a:xfrm>
            <a:off x="8115300" y="-12515"/>
            <a:ext cx="4076700" cy="6418631"/>
          </a:xfrm>
          <a:prstGeom prst="rect">
            <a:avLst/>
          </a:prstGeom>
        </p:spPr>
      </p:pic>
    </p:spTree>
    <p:extLst>
      <p:ext uri="{BB962C8B-B14F-4D97-AF65-F5344CB8AC3E}">
        <p14:creationId xmlns:p14="http://schemas.microsoft.com/office/powerpoint/2010/main" val="1221481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12">
            <a:extLst>
              <a:ext uri="{FF2B5EF4-FFF2-40B4-BE49-F238E27FC236}">
                <a16:creationId xmlns:a16="http://schemas.microsoft.com/office/drawing/2014/main" id="{4D896123-1B32-4CB1-B2ED-E34BBC26B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4" descr="Close-up of hopscotch on a sidewalk">
            <a:extLst>
              <a:ext uri="{FF2B5EF4-FFF2-40B4-BE49-F238E27FC236}">
                <a16:creationId xmlns:a16="http://schemas.microsoft.com/office/drawing/2014/main" id="{D1E6C6C5-EDFD-6EFC-6B4E-558C6B61098C}"/>
              </a:ext>
            </a:extLst>
          </p:cNvPr>
          <p:cNvPicPr>
            <a:picLocks noChangeAspect="1"/>
          </p:cNvPicPr>
          <p:nvPr/>
        </p:nvPicPr>
        <p:blipFill rotWithShape="1">
          <a:blip r:embed="rId2"/>
          <a:srcRect t="7099" b="8636"/>
          <a:stretch/>
        </p:blipFill>
        <p:spPr>
          <a:xfrm>
            <a:off x="20" y="-1"/>
            <a:ext cx="12191980" cy="6857571"/>
          </a:xfrm>
          <a:prstGeom prst="rect">
            <a:avLst/>
          </a:prstGeom>
        </p:spPr>
      </p:pic>
      <p:sp>
        <p:nvSpPr>
          <p:cNvPr id="27" name="Rectangle 14">
            <a:extLst>
              <a:ext uri="{FF2B5EF4-FFF2-40B4-BE49-F238E27FC236}">
                <a16:creationId xmlns:a16="http://schemas.microsoft.com/office/drawing/2014/main" id="{019FDB4D-987D-4C87-A179-9D4616AB2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1"/>
            <a:ext cx="12191999" cy="5058137"/>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2EF4F-5C88-4365-9AB7-91C1820104B9}"/>
              </a:ext>
            </a:extLst>
          </p:cNvPr>
          <p:cNvSpPr>
            <a:spLocks noGrp="1"/>
          </p:cNvSpPr>
          <p:nvPr>
            <p:ph type="title"/>
          </p:nvPr>
        </p:nvSpPr>
        <p:spPr>
          <a:xfrm>
            <a:off x="1619534" y="504966"/>
            <a:ext cx="8952932" cy="3043213"/>
          </a:xfrm>
        </p:spPr>
        <p:txBody>
          <a:bodyPr vert="horz" lIns="0" tIns="0" rIns="0" bIns="0" rtlCol="0" anchor="b">
            <a:normAutofit/>
          </a:bodyPr>
          <a:lstStyle/>
          <a:p>
            <a:pPr algn="ctr"/>
            <a:r>
              <a:rPr lang="en-US" sz="4000" spc="750" dirty="0">
                <a:solidFill>
                  <a:schemeClr val="bg1"/>
                </a:solidFill>
              </a:rPr>
              <a:t>The End</a:t>
            </a:r>
          </a:p>
        </p:txBody>
      </p:sp>
    </p:spTree>
    <p:extLst>
      <p:ext uri="{BB962C8B-B14F-4D97-AF65-F5344CB8AC3E}">
        <p14:creationId xmlns:p14="http://schemas.microsoft.com/office/powerpoint/2010/main" val="876978214"/>
      </p:ext>
    </p:extLst>
  </p:cSld>
  <p:clrMapOvr>
    <a:masterClrMapping/>
  </p:clrMapOvr>
</p:sld>
</file>

<file path=ppt/theme/theme1.xml><?xml version="1.0" encoding="utf-8"?>
<a:theme xmlns:a="http://schemas.openxmlformats.org/drawingml/2006/main" name="GradientRiseVTI">
  <a:themeElements>
    <a:clrScheme name="AnalogousFromRegularSeed_2SEEDS">
      <a:dk1>
        <a:srgbClr val="000000"/>
      </a:dk1>
      <a:lt1>
        <a:srgbClr val="FFFFFF"/>
      </a:lt1>
      <a:dk2>
        <a:srgbClr val="412424"/>
      </a:dk2>
      <a:lt2>
        <a:srgbClr val="E2E8E3"/>
      </a:lt2>
      <a:accent1>
        <a:srgbClr val="CB21AD"/>
      </a:accent1>
      <a:accent2>
        <a:srgbClr val="B533DD"/>
      </a:accent2>
      <a:accent3>
        <a:srgbClr val="DD3378"/>
      </a:accent3>
      <a:accent4>
        <a:srgbClr val="82B31D"/>
      </a:accent4>
      <a:accent5>
        <a:srgbClr val="50B92B"/>
      </a:accent5>
      <a:accent6>
        <a:srgbClr val="1EBC37"/>
      </a:accent6>
      <a:hlink>
        <a:srgbClr val="319543"/>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6C48104A33A794ABDCEE228C468EB25" ma:contentTypeVersion="13" ma:contentTypeDescription="Create a new document." ma:contentTypeScope="" ma:versionID="d1f2970796a20a828938a43e790ad418">
  <xsd:schema xmlns:xsd="http://www.w3.org/2001/XMLSchema" xmlns:xs="http://www.w3.org/2001/XMLSchema" xmlns:p="http://schemas.microsoft.com/office/2006/metadata/properties" xmlns:ns3="6b6bd4f7-853d-4c80-800e-5180677c431a" xmlns:ns4="ceb279bf-74a0-43c8-a078-548589aab63d" targetNamespace="http://schemas.microsoft.com/office/2006/metadata/properties" ma:root="true" ma:fieldsID="b5d8fd74e096daadb67f5fcb14cf6928" ns3:_="" ns4:_="">
    <xsd:import namespace="6b6bd4f7-853d-4c80-800e-5180677c431a"/>
    <xsd:import namespace="ceb279bf-74a0-43c8-a078-548589aab63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6bd4f7-853d-4c80-800e-5180677c43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b279bf-74a0-43c8-a078-548589aab63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b6bd4f7-853d-4c80-800e-5180677c431a" xsi:nil="true"/>
  </documentManagement>
</p:properties>
</file>

<file path=customXml/itemProps1.xml><?xml version="1.0" encoding="utf-8"?>
<ds:datastoreItem xmlns:ds="http://schemas.openxmlformats.org/officeDocument/2006/customXml" ds:itemID="{5C66C8B0-0B7D-4A2B-BE2C-2D5FEE223E0C}">
  <ds:schemaRefs>
    <ds:schemaRef ds:uri="http://schemas.microsoft.com/sharepoint/v3/contenttype/forms"/>
  </ds:schemaRefs>
</ds:datastoreItem>
</file>

<file path=customXml/itemProps2.xml><?xml version="1.0" encoding="utf-8"?>
<ds:datastoreItem xmlns:ds="http://schemas.openxmlformats.org/officeDocument/2006/customXml" ds:itemID="{954FF709-0AAB-4877-8DDA-DDACCAA5B6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6bd4f7-853d-4c80-800e-5180677c431a"/>
    <ds:schemaRef ds:uri="ceb279bf-74a0-43c8-a078-548589aab6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EF2FCB-D54F-4601-9387-F2A8E7A578EB}">
  <ds:schemaRef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http://purl.org/dc/dcmitype/"/>
    <ds:schemaRef ds:uri="6b6bd4f7-853d-4c80-800e-5180677c431a"/>
    <ds:schemaRef ds:uri="ceb279bf-74a0-43c8-a078-548589aab63d"/>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70</TotalTime>
  <Words>532</Words>
  <Application>Microsoft Office PowerPoint</Application>
  <PresentationFormat>Widescreen</PresentationFormat>
  <Paragraphs>15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GradientRiseVTI</vt:lpstr>
      <vt:lpstr>Iteration 4:Research Proposal</vt:lpstr>
      <vt:lpstr>The Serial position effect</vt:lpstr>
      <vt:lpstr>The Serial position effect</vt:lpstr>
      <vt:lpstr>Brief summary of articles </vt:lpstr>
      <vt:lpstr>Brief summary of articles </vt:lpstr>
      <vt:lpstr>Brief summary of articles </vt:lpstr>
      <vt:lpstr>Brief summary of articles </vt:lpstr>
      <vt:lpstr>Brief summary of articles </vt:lpstr>
      <vt:lpstr>How are these articles connected??</vt:lpstr>
      <vt:lpstr>Potential implications</vt:lpstr>
      <vt:lpstr>Potential implications</vt:lpstr>
      <vt:lpstr>Potential implications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8</dc:title>
  <dc:creator>Rosario, Manuel</dc:creator>
  <cp:lastModifiedBy>Rosario, Manuel</cp:lastModifiedBy>
  <cp:revision>195</cp:revision>
  <dcterms:created xsi:type="dcterms:W3CDTF">2023-04-15T15:35:19Z</dcterms:created>
  <dcterms:modified xsi:type="dcterms:W3CDTF">2023-04-17T07:42:29Z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0x010100E6C48104A33A794ABDCEE228C468EB25</vt:lpwstr>
  </property>
</Properties>
</file>